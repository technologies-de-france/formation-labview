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1" r:id="rId4"/>
    <p:sldId id="257" r:id="rId5"/>
    <p:sldId id="258" r:id="rId6"/>
    <p:sldId id="260" r:id="rId7"/>
    <p:sldId id="280" r:id="rId8"/>
    <p:sldId id="282" r:id="rId9"/>
    <p:sldId id="298" r:id="rId10"/>
    <p:sldId id="294" r:id="rId11"/>
    <p:sldId id="291" r:id="rId12"/>
    <p:sldId id="287" r:id="rId13"/>
    <p:sldId id="288" r:id="rId14"/>
    <p:sldId id="289" r:id="rId15"/>
    <p:sldId id="290" r:id="rId16"/>
    <p:sldId id="292" r:id="rId17"/>
    <p:sldId id="293" r:id="rId18"/>
    <p:sldId id="295" r:id="rId19"/>
    <p:sldId id="296" r:id="rId20"/>
    <p:sldId id="297" r:id="rId21"/>
    <p:sldId id="300" r:id="rId22"/>
    <p:sldId id="299" r:id="rId23"/>
    <p:sldId id="30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  <a:srgbClr val="FFFFFF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9A29E-9EF6-9066-C7D4-3C22FDB97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5A1752-173F-4406-4FB7-FA37350B4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F2AC37-80D6-B45C-2E41-A7BA2838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30E41D-ADA8-7FF3-C97C-8258C97E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E592C-5414-7DE4-FB7C-C2DD3DB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12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163BD-06D6-D4FE-01C4-83DCEADD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E7566-ED1D-49D6-FF19-3A9D3FB2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FE44D5-185B-595A-5F2F-5F95ADB7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9409F5-2743-6ED2-3B64-5C53DCD0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EC191B-7CA4-329C-6FAF-1ECBA967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4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19F7D6-6FF8-F5BD-11E8-2ECB28A9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513811-8BF0-CFC9-8A5B-A9AE74BF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2959F-05BC-CC2B-7623-A7D3F662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5E00F5-7238-EAE5-8D0D-BC77D14B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52FA6-733F-BD65-7BBA-208746E5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51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3AC9A-7510-D08E-329C-0800863A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A61037-B78F-D752-8D79-750A8C75A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72A5FE-1BC3-D13C-AEA7-758CE867E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71396B-0D2F-D89C-C2B4-6642F0C9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C38764-4A20-EEE5-FE97-6B2E4B4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B96C42-3FCD-6171-93A3-019538EE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3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248ED-6A91-EF86-3C40-C8720D0C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5A2E2E-5050-F702-276C-2FB9B38F6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A1D309-73D6-6B6D-FA3F-3CFC306D0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1B17CE6-EFAC-1C94-C112-384E15637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DA3264-BA48-B15B-F400-D73BE1346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0CA364C-42E4-3F70-90A2-986C8BC8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757491B-56BF-4F56-8F7F-D197217E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E51C74-7C5D-E671-302E-AC63ED01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06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93182-47F0-4890-388E-F963B958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31AA40-FA0A-AECB-7CEA-BB927F10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9B5815-AE8B-DDCF-A889-95B70824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751773-F56A-46CA-2827-0477DD88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45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15FF884-2D6C-F775-8975-F65FE178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17C276-733B-ABD8-2292-EA594210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EF3174-2634-EB66-09CD-36EAF076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2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CA8C8A-F332-CB65-40FC-328233C8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A85C8D-0179-33CC-A28D-DE42A535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D9436A-3256-4BE1-EA69-9E3E8754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E0D429-8678-81B3-E7BB-731A2DCD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47DF5-16BF-4C55-C3BB-1C15D0E4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03A98F-602F-224A-7775-5280D54E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58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33989-98AA-CDDD-CCDB-4041EC62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5DA89E-7FCC-D8F5-698B-746D1BB07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83FE42-4D9C-0C44-9FA1-40810152E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568569-BC60-B7B2-B318-FF66C962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F70D02-9953-DB3A-A129-336E3B66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CF3274-0CE6-B737-F520-8C9CB967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5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E11B1-A4AC-F8D8-38BE-F2B40E9C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63B5A1-735E-BCEE-58EE-C96EB852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C7BEA3-74A9-9546-C7E3-0F33A718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F11436-33D1-07A6-65D1-DB55A9B7E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453EDF-FE8D-D7B8-4D1A-7CDDBFB3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44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B0EB0E-1C4B-FB45-4AF4-AA197C2DB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BD641-E814-C1C0-C8B2-DF925079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63D4C8-BDE7-A94F-2E02-A19C3EC2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9F43FE-686A-8876-6F5F-7541C429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12C4C6-8BC2-4E8D-022A-D1DFBFF9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30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4A9667-71DD-0544-DFD2-5490A3C6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6E97F7-C5FE-9A5E-451E-EC92524D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04949-91CB-29AD-03AD-8B50628C9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ECFAE-EA6B-483D-A046-90F540564C26}" type="datetimeFigureOut">
              <a:rPr lang="fr-FR" smtClean="0"/>
              <a:t>21/07/2022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4D5F06-A847-7732-B7BF-550A12FC4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6B8D89-B787-C51D-779E-EEB06CC3F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5002B-1C31-44BC-AC77-33B84B23F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35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531739C-26A7-1041-F36A-94E54AB7CD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40" y="878946"/>
            <a:ext cx="4328119" cy="432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7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0EFE898-A06C-7306-F34D-A7078581E36F}"/>
              </a:ext>
            </a:extLst>
          </p:cNvPr>
          <p:cNvSpPr txBox="1"/>
          <p:nvPr/>
        </p:nvSpPr>
        <p:spPr>
          <a:xfrm>
            <a:off x="3499885" y="2563118"/>
            <a:ext cx="754830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Quel est le rôle d’un architecte logiciel ?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Créer l’architecture </a:t>
            </a:r>
            <a:r>
              <a:rPr lang="fr-FR"/>
              <a:t>logicielle adaptée </a:t>
            </a:r>
            <a:r>
              <a:rPr lang="fr-FR" dirty="0"/>
              <a:t>aux exigences du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Permettre à une équipe de développeurs de terminer une application en lui fournissant des modules conçus avec des interfaces, des structures de données et des 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Fournir à l’équipe de développement une documentation claire</a:t>
            </a:r>
          </a:p>
        </p:txBody>
      </p:sp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D123C9B-9400-AC24-96C0-FCD50F7AC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42" y="845932"/>
            <a:ext cx="1223854" cy="122805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AF7ACAA-0170-525A-5AE5-1AB67D1569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037" y="856744"/>
            <a:ext cx="1767573" cy="122805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C61E654-5373-D69F-9ECE-67A82A4748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85" y="856744"/>
            <a:ext cx="1228053" cy="122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2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D123C9B-9400-AC24-96C0-FCD50F7AC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42" y="845932"/>
            <a:ext cx="1223854" cy="122805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AF7ACAA-0170-525A-5AE5-1AB67D1569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037" y="856744"/>
            <a:ext cx="1767573" cy="122805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C61E654-5373-D69F-9ECE-67A82A4748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85" y="856744"/>
            <a:ext cx="1228053" cy="122805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0995F75-8148-99D3-C9BF-6165C63D4EFA}"/>
              </a:ext>
            </a:extLst>
          </p:cNvPr>
          <p:cNvSpPr txBox="1"/>
          <p:nvPr/>
        </p:nvSpPr>
        <p:spPr>
          <a:xfrm>
            <a:off x="3499884" y="2439558"/>
            <a:ext cx="845442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La certification démontre la capacité à :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Comprendre, analyser et interpréter des spécifications de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Travailler en équipe pour développer une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Architecturer des applications modulaires et évolutives dans le temps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S’organiser en hiérarchie de projet modulaire, en vue d'un développement complet ultérieur par une équipe de développeurs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Fournir une documentation claire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9ADD62E-2410-4E38-8B9F-2911F44E91E9}"/>
              </a:ext>
            </a:extLst>
          </p:cNvPr>
          <p:cNvSpPr txBox="1"/>
          <p:nvPr/>
        </p:nvSpPr>
        <p:spPr>
          <a:xfrm>
            <a:off x="4621657" y="5113455"/>
            <a:ext cx="3857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Durée de validité : 4 ans </a:t>
            </a:r>
          </a:p>
        </p:txBody>
      </p:sp>
    </p:spTree>
    <p:extLst>
      <p:ext uri="{BB962C8B-B14F-4D97-AF65-F5344CB8AC3E}">
        <p14:creationId xmlns:p14="http://schemas.microsoft.com/office/powerpoint/2010/main" val="136560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8023845-ACBC-989A-1DF3-9EA3205D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504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173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0EFE898-A06C-7306-F34D-A7078581E36F}"/>
              </a:ext>
            </a:extLst>
          </p:cNvPr>
          <p:cNvSpPr txBox="1"/>
          <p:nvPr/>
        </p:nvSpPr>
        <p:spPr>
          <a:xfrm>
            <a:off x="3760056" y="1089061"/>
            <a:ext cx="895765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Avoir obtenu la certification CLD est un prérequis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Possibilité de lancer l’examen jusqu’à 30 min après l’heure de rendez-vous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Pièce privatisée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Ordinateur avec webcam, micro et internet (pré-test)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Pas de nourriture ou de boisson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Possibilité de réaliser une pause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Interdiction d’utiliser des ressources externes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Utilisation autorisée de toutes les ressources disponibles dans LabVIEW (Modèles, exemples, VI Express…)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Durée de l’examen : 4 heures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F0023F8-0F83-9031-5765-33F87DD859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0" y="1175181"/>
            <a:ext cx="1228053" cy="122805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0E59BDB-585E-527A-750B-801E571A78C0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Examen - Organisation</a:t>
            </a:r>
          </a:p>
        </p:txBody>
      </p:sp>
    </p:spTree>
    <p:extLst>
      <p:ext uri="{BB962C8B-B14F-4D97-AF65-F5344CB8AC3E}">
        <p14:creationId xmlns:p14="http://schemas.microsoft.com/office/powerpoint/2010/main" val="177112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744B937-F34E-0B73-B850-9845D0E0034B}"/>
              </a:ext>
            </a:extLst>
          </p:cNvPr>
          <p:cNvSpPr txBox="1"/>
          <p:nvPr/>
        </p:nvSpPr>
        <p:spPr>
          <a:xfrm>
            <a:off x="3768695" y="1105839"/>
            <a:ext cx="812801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L'examen CLA consiste en un projet fort similaire à celui sur lequel vous avez travaillé au cours de l'examen CLD avec des :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Exigences d’interface utilisateur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Exigences fonctionnelles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Vous devez donc :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Développer un projet </a:t>
            </a:r>
            <a:r>
              <a:rPr lang="fr-FR" dirty="0" err="1"/>
              <a:t>from</a:t>
            </a:r>
            <a:r>
              <a:rPr lang="fr-FR" dirty="0"/>
              <a:t> scratch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Couvrir à l’aide de tags les exigences fonctionnelles (fichier txt)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Développer l’architecture, les modules, les structures de données et la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 Pas d’application fonctionnelle exigée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0AC8ED7-280E-F268-02C2-238D2FA25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0" y="1175181"/>
            <a:ext cx="1228053" cy="122805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0ADCF01-D34D-06BB-1728-1E8CA1435587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Examen - Format</a:t>
            </a:r>
          </a:p>
        </p:txBody>
      </p:sp>
    </p:spTree>
    <p:extLst>
      <p:ext uri="{BB962C8B-B14F-4D97-AF65-F5344CB8AC3E}">
        <p14:creationId xmlns:p14="http://schemas.microsoft.com/office/powerpoint/2010/main" val="123108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7D261BC-B268-B237-9FD9-AE80DB5BF77F}"/>
              </a:ext>
            </a:extLst>
          </p:cNvPr>
          <p:cNvGraphicFramePr>
            <a:graphicFrameLocks noGrp="1"/>
          </p:cNvGraphicFramePr>
          <p:nvPr/>
        </p:nvGraphicFramePr>
        <p:xfrm>
          <a:off x="796955" y="1430124"/>
          <a:ext cx="10091954" cy="2368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0623">
                  <a:extLst>
                    <a:ext uri="{9D8B030D-6E8A-4147-A177-3AD203B41FA5}">
                      <a16:colId xmlns:a16="http://schemas.microsoft.com/office/drawing/2014/main" val="984015997"/>
                    </a:ext>
                  </a:extLst>
                </a:gridCol>
                <a:gridCol w="2055303">
                  <a:extLst>
                    <a:ext uri="{9D8B030D-6E8A-4147-A177-3AD203B41FA5}">
                      <a16:colId xmlns:a16="http://schemas.microsoft.com/office/drawing/2014/main" val="2680768997"/>
                    </a:ext>
                  </a:extLst>
                </a:gridCol>
                <a:gridCol w="2416028">
                  <a:extLst>
                    <a:ext uri="{9D8B030D-6E8A-4147-A177-3AD203B41FA5}">
                      <a16:colId xmlns:a16="http://schemas.microsoft.com/office/drawing/2014/main" val="167801299"/>
                    </a:ext>
                  </a:extLst>
                </a:gridCol>
              </a:tblGrid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Critère d’évaluation 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Points 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Pourcentage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230126"/>
                  </a:ext>
                </a:extLst>
              </a:tr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Style de l'interface utilisateur et du diagramme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10 %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453023"/>
                  </a:ext>
                </a:extLst>
              </a:tr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Documentation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20 %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278138"/>
                  </a:ext>
                </a:extLst>
              </a:tr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Couverture des spécifications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30 %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196240"/>
                  </a:ext>
                </a:extLst>
              </a:tr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Développement de l'architecture 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40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40 %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57008"/>
                  </a:ext>
                </a:extLst>
              </a:tr>
              <a:tr h="39481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Total 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100 %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27021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9E6C4E6D-F4C1-8689-3B62-DDCE1F327779}"/>
              </a:ext>
            </a:extLst>
          </p:cNvPr>
          <p:cNvSpPr txBox="1"/>
          <p:nvPr/>
        </p:nvSpPr>
        <p:spPr>
          <a:xfrm>
            <a:off x="3308114" y="4082541"/>
            <a:ext cx="542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Pour valider l’examen, il faut au moins 70 points (70 %)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5E04AA6-D4F0-473B-1334-AF08AB4410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185" y="4738288"/>
            <a:ext cx="1228053" cy="122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4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0AC8ED7-280E-F268-02C2-238D2FA25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0" y="1175181"/>
            <a:ext cx="1228053" cy="1228053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3533474-5F05-D077-3C07-6875FA369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955" y="2185453"/>
            <a:ext cx="1567110" cy="156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F313741-572A-83F8-9CD7-6E255B6467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853" y="2274107"/>
            <a:ext cx="1423158" cy="1389803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6988807-46C3-F6DE-4EEE-575CB3947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410" y="2299776"/>
            <a:ext cx="1325080" cy="133846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36B2CD7-E3A0-13F4-8ED4-8ACA20F1C6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77" y="2299349"/>
            <a:ext cx="1927722" cy="133931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0FB24EE-D680-1B0C-30A4-EED4249117B8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Examen – Comment s’y préparer ?</a:t>
            </a:r>
          </a:p>
        </p:txBody>
      </p:sp>
    </p:spTree>
    <p:extLst>
      <p:ext uri="{BB962C8B-B14F-4D97-AF65-F5344CB8AC3E}">
        <p14:creationId xmlns:p14="http://schemas.microsoft.com/office/powerpoint/2010/main" val="283333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0AC8ED7-280E-F268-02C2-238D2FA25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0" y="1175181"/>
            <a:ext cx="1228053" cy="122805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0FB24EE-D680-1B0C-30A4-EED4249117B8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Style (10 points)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1600F83-9040-3CC1-DEB8-B761C3ACB14B}"/>
              </a:ext>
            </a:extLst>
          </p:cNvPr>
          <p:cNvSpPr txBox="1"/>
          <p:nvPr/>
        </p:nvSpPr>
        <p:spPr>
          <a:xfrm>
            <a:off x="3261689" y="1368794"/>
            <a:ext cx="883125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Style</a:t>
            </a:r>
          </a:p>
          <a:p>
            <a:endParaRPr lang="fr-F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Organisation des fichiers dans le projet cohérent et lisible (</a:t>
            </a:r>
            <a:r>
              <a:rPr lang="fr-FR" dirty="0" err="1"/>
              <a:t>SubVI</a:t>
            </a:r>
            <a:r>
              <a:rPr lang="fr-FR" dirty="0"/>
              <a:t>, Controls, Thread, Template, Configuration, Log, </a:t>
            </a:r>
            <a:r>
              <a:rPr lang="fr-FR" dirty="0" err="1"/>
              <a:t>Timer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Convention de nommage des fichiers simple et facile à comprendre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 top VI à la racine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organise ses données dans une locale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Définir des </a:t>
            </a:r>
            <a:r>
              <a:rPr lang="fr-FR" dirty="0" err="1"/>
              <a:t>typedef</a:t>
            </a:r>
            <a:r>
              <a:rPr lang="fr-FR" dirty="0"/>
              <a:t> pour les clusters et les énumérateurs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Cartésien dans les états (</a:t>
            </a:r>
            <a:r>
              <a:rPr lang="fr-FR" dirty="0" err="1"/>
              <a:t>declaration</a:t>
            </a:r>
            <a:r>
              <a:rPr lang="fr-FR" dirty="0"/>
              <a:t>, </a:t>
            </a:r>
            <a:r>
              <a:rPr lang="fr-FR" dirty="0" err="1"/>
              <a:t>initialize</a:t>
            </a:r>
            <a:r>
              <a:rPr lang="fr-FR" dirty="0"/>
              <a:t>, </a:t>
            </a:r>
            <a:r>
              <a:rPr lang="fr-FR" dirty="0" err="1"/>
              <a:t>error</a:t>
            </a:r>
            <a:r>
              <a:rPr lang="fr-FR" dirty="0"/>
              <a:t>, display, exit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Nomenclature des états simple et facile à comprendre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tient sur un écran maximum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fait disparaître les itérateurs de boucles non nécessaires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fait disparaître les nœuds de propriétés non nécessaires dans la structure d’</a:t>
            </a:r>
            <a:r>
              <a:rPr lang="fr-FR" dirty="0" err="1"/>
              <a:t>events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			On bosse avec amour </a:t>
            </a:r>
          </a:p>
        </p:txBody>
      </p:sp>
    </p:spTree>
    <p:extLst>
      <p:ext uri="{BB962C8B-B14F-4D97-AF65-F5344CB8AC3E}">
        <p14:creationId xmlns:p14="http://schemas.microsoft.com/office/powerpoint/2010/main" val="266514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51B679F-8E8F-2C4B-DC3D-76A439B1E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0" y="1251172"/>
            <a:ext cx="746822" cy="74682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2387056-F122-42E2-3CA5-540AD97E2A12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Documentation (20 points)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FBC28A72-C319-362C-61A4-429B624FE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04341"/>
              </p:ext>
            </p:extLst>
          </p:nvPr>
        </p:nvGraphicFramePr>
        <p:xfrm>
          <a:off x="3384200" y="1144902"/>
          <a:ext cx="8650940" cy="5107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1091">
                  <a:extLst>
                    <a:ext uri="{9D8B030D-6E8A-4147-A177-3AD203B41FA5}">
                      <a16:colId xmlns:a16="http://schemas.microsoft.com/office/drawing/2014/main" val="3828419962"/>
                    </a:ext>
                  </a:extLst>
                </a:gridCol>
                <a:gridCol w="5199849">
                  <a:extLst>
                    <a:ext uri="{9D8B030D-6E8A-4147-A177-3AD203B41FA5}">
                      <a16:colId xmlns:a16="http://schemas.microsoft.com/office/drawing/2014/main" val="3531402301"/>
                    </a:ext>
                  </a:extLst>
                </a:gridCol>
              </a:tblGrid>
              <a:tr h="52671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Etiquettes sur les fils</a:t>
                      </a:r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21529"/>
                  </a:ext>
                </a:extLst>
              </a:tr>
              <a:tr h="1333849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Infobulles pour contextualiser 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430759"/>
                  </a:ext>
                </a:extLst>
              </a:tr>
              <a:tr h="1585519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Icône et documentation des VI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178442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Commentaire dans les diagrammes</a:t>
                      </a:r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733010"/>
                  </a:ext>
                </a:extLst>
              </a:tr>
              <a:tr h="83051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Cluster par nom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578904"/>
                  </a:ext>
                </a:extLst>
              </a:tr>
            </a:tbl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F52D9A5A-6184-FD38-8EA9-3B849CF2A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93" y="1202584"/>
            <a:ext cx="942975" cy="4572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7E49ABE-5DDB-A683-464B-598C5CC4CF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9259" y="1192692"/>
            <a:ext cx="1228725" cy="47625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FD68CCA-062F-C818-24F6-89D2AA4E9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901" y="1799438"/>
            <a:ext cx="1962150" cy="11430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8EA5513-41DD-C653-FE10-45E99E480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929" y="4667490"/>
            <a:ext cx="4991100" cy="6477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9EAFF64-3EEE-0182-6367-B75247FC4B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9128" y="3054518"/>
            <a:ext cx="2782702" cy="14418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B2D22C6-728C-5287-317A-85F7C4636B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5535" y="5486278"/>
            <a:ext cx="1876751" cy="714109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235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51B679F-8E8F-2C4B-DC3D-76A439B1E5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0" y="1251172"/>
            <a:ext cx="746822" cy="7468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2F078CD-3A0D-24E3-A275-50FDA57B2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261" y="1413254"/>
            <a:ext cx="9037739" cy="438761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2387056-F122-42E2-3CA5-540AD97E2A12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Documentation (20 points)</a:t>
            </a:r>
          </a:p>
        </p:txBody>
      </p:sp>
    </p:spTree>
    <p:extLst>
      <p:ext uri="{BB962C8B-B14F-4D97-AF65-F5344CB8AC3E}">
        <p14:creationId xmlns:p14="http://schemas.microsoft.com/office/powerpoint/2010/main" val="105185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6C469BD0-BFBA-23F9-9192-5690BE4B4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672"/>
            <a:ext cx="7943850" cy="19716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D957466-6C4B-B7A1-5CC0-CC506B43B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106" y="1175181"/>
            <a:ext cx="3076575" cy="371475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9EC11C24-BD25-FC2A-BCA4-DBDB0DE09EC9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Exigences (30 points)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D8BB134-4335-06B1-B870-2AFDF2516E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331" y="3580188"/>
            <a:ext cx="60960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14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F116310-99FC-CDDA-DFCA-19F3D7C8D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609" y="1486382"/>
            <a:ext cx="5050330" cy="42441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51B679F-8E8F-2C4B-DC3D-76A439B1E5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0" y="1251172"/>
            <a:ext cx="746822" cy="74682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AE577BB3-CAE4-7DA7-E89E-18BA6290882D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Exigences – Bonnes pratiques (30 points)</a:t>
            </a:r>
          </a:p>
        </p:txBody>
      </p:sp>
    </p:spTree>
    <p:extLst>
      <p:ext uri="{BB962C8B-B14F-4D97-AF65-F5344CB8AC3E}">
        <p14:creationId xmlns:p14="http://schemas.microsoft.com/office/powerpoint/2010/main" val="313381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9814855-47C5-F072-8531-13E9AA70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268" y="918010"/>
            <a:ext cx="10942186" cy="52931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9988FF4-44CF-63C7-9127-EE2A145B2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0" y="1251172"/>
            <a:ext cx="746822" cy="74682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D078857-8AD6-AB3B-A220-34875E194608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Exigences – Bonnes pratiques (30 points)</a:t>
            </a:r>
          </a:p>
        </p:txBody>
      </p:sp>
    </p:spTree>
    <p:extLst>
      <p:ext uri="{BB962C8B-B14F-4D97-AF65-F5344CB8AC3E}">
        <p14:creationId xmlns:p14="http://schemas.microsoft.com/office/powerpoint/2010/main" val="1959730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39662C7-E02F-5233-9DE8-2C255080B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380" y="995273"/>
            <a:ext cx="8392754" cy="51916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9988FF4-44CF-63C7-9127-EE2A145B2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0" y="1251172"/>
            <a:ext cx="746822" cy="74682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A25B6CA-F4F1-06B4-6525-7736B6B9C95D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Exigences – Bonnes et mauvaises pratiques (30 points)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7F45CF8-1869-3F1C-A41A-14C40593CF30}"/>
              </a:ext>
            </a:extLst>
          </p:cNvPr>
          <p:cNvSpPr txBox="1"/>
          <p:nvPr/>
        </p:nvSpPr>
        <p:spPr>
          <a:xfrm>
            <a:off x="4699985" y="4998435"/>
            <a:ext cx="69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Clair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A59A7A4-F5EA-5E79-D0E8-662F207605F4}"/>
              </a:ext>
            </a:extLst>
          </p:cNvPr>
          <p:cNvSpPr txBox="1"/>
          <p:nvPr/>
        </p:nvSpPr>
        <p:spPr>
          <a:xfrm>
            <a:off x="9393339" y="1628662"/>
            <a:ext cx="127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Pas clair</a:t>
            </a:r>
          </a:p>
        </p:txBody>
      </p:sp>
    </p:spTree>
    <p:extLst>
      <p:ext uri="{BB962C8B-B14F-4D97-AF65-F5344CB8AC3E}">
        <p14:creationId xmlns:p14="http://schemas.microsoft.com/office/powerpoint/2010/main" val="4020198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157E991C-DDB7-2F4D-CBC7-1973F9D22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23" y="1166282"/>
            <a:ext cx="8931526" cy="50635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0E3C6AE-7938-07E1-5B76-F8BB56FD7243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Modèle de conception – un exemple – QMH (40 points)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8C126D3-5F4F-7FFD-D6EB-74107EABFB72}"/>
              </a:ext>
            </a:extLst>
          </p:cNvPr>
          <p:cNvSpPr txBox="1"/>
          <p:nvPr/>
        </p:nvSpPr>
        <p:spPr>
          <a:xfrm>
            <a:off x="192225" y="1675429"/>
            <a:ext cx="60987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Arborescence propre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des erreurs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des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Multi-thread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4941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B5E60A-7B18-E58D-522D-F3A992E1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9" y="973122"/>
            <a:ext cx="11615744" cy="51360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21DF4E8-D4DD-4E6A-8FA6-20DFA1DB789A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Modèle de conception (40 points)</a:t>
            </a:r>
          </a:p>
        </p:txBody>
      </p:sp>
    </p:spTree>
    <p:extLst>
      <p:ext uri="{BB962C8B-B14F-4D97-AF65-F5344CB8AC3E}">
        <p14:creationId xmlns:p14="http://schemas.microsoft.com/office/powerpoint/2010/main" val="1225459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558DA90-A8E1-CF16-3FCC-94B426D9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487" y="1165047"/>
            <a:ext cx="9093665" cy="50755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0E3C6AE-7938-07E1-5B76-F8BB56FD7243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Modèle de conception – FGV (40 points)</a:t>
            </a:r>
          </a:p>
        </p:txBody>
      </p:sp>
    </p:spTree>
    <p:extLst>
      <p:ext uri="{BB962C8B-B14F-4D97-AF65-F5344CB8AC3E}">
        <p14:creationId xmlns:p14="http://schemas.microsoft.com/office/powerpoint/2010/main" val="225231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21DF4E8-D4DD-4E6A-8FA6-20DFA1DB789A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Modèle de conception – </a:t>
            </a:r>
            <a:r>
              <a:rPr lang="fr-FR" b="1" dirty="0"/>
              <a:t>FGV – </a:t>
            </a:r>
            <a:r>
              <a:rPr lang="fr-FR" sz="1800" b="1" dirty="0" err="1"/>
              <a:t>Timer</a:t>
            </a:r>
            <a:r>
              <a:rPr lang="fr-FR" sz="1800" b="1" dirty="0"/>
              <a:t> (40 points)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2A1B8C-7B89-1EE7-9FE6-11AE7A7D0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" y="1309337"/>
            <a:ext cx="117443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7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0ACA980-C465-4C07-49F6-5744288A9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74" y="795445"/>
            <a:ext cx="11134725" cy="4276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0E3C6AE-7938-07E1-5B76-F8BB56FD7243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Modèle de conception (40 points)</a:t>
            </a:r>
          </a:p>
        </p:txBody>
      </p:sp>
    </p:spTree>
    <p:extLst>
      <p:ext uri="{BB962C8B-B14F-4D97-AF65-F5344CB8AC3E}">
        <p14:creationId xmlns:p14="http://schemas.microsoft.com/office/powerpoint/2010/main" val="1924174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0E3C6AE-7938-07E1-5B76-F8BB56FD7243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Gestion de l’épreuve - Architecture</a:t>
            </a:r>
          </a:p>
        </p:txBody>
      </p:sp>
      <p:grpSp>
        <p:nvGrpSpPr>
          <p:cNvPr id="10" name="Group">
            <a:extLst>
              <a:ext uri="{FF2B5EF4-FFF2-40B4-BE49-F238E27FC236}">
                <a16:creationId xmlns:a16="http://schemas.microsoft.com/office/drawing/2014/main" id="{E8F44BEB-3043-44D6-4D77-AD6499B3C41E}"/>
              </a:ext>
            </a:extLst>
          </p:cNvPr>
          <p:cNvGrpSpPr/>
          <p:nvPr/>
        </p:nvGrpSpPr>
        <p:grpSpPr>
          <a:xfrm>
            <a:off x="1955801" y="1321366"/>
            <a:ext cx="10009962" cy="4025333"/>
            <a:chOff x="-55" y="-1"/>
            <a:chExt cx="8763020" cy="2746366"/>
          </a:xfrm>
        </p:grpSpPr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2DD9CE61-2AB0-E9D3-9EF5-AD2AD607B85A}"/>
                </a:ext>
              </a:extLst>
            </p:cNvPr>
            <p:cNvSpPr/>
            <p:nvPr/>
          </p:nvSpPr>
          <p:spPr>
            <a:xfrm>
              <a:off x="-55" y="-1"/>
              <a:ext cx="4655496" cy="2746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9" h="21588" extrusionOk="0">
                  <a:moveTo>
                    <a:pt x="387" y="0"/>
                  </a:moveTo>
                  <a:cubicBezTo>
                    <a:pt x="250" y="1"/>
                    <a:pt x="124" y="126"/>
                    <a:pt x="57" y="329"/>
                  </a:cubicBezTo>
                  <a:cubicBezTo>
                    <a:pt x="0" y="503"/>
                    <a:pt x="-6" y="714"/>
                    <a:pt x="42" y="897"/>
                  </a:cubicBezTo>
                  <a:lnTo>
                    <a:pt x="3069" y="10105"/>
                  </a:lnTo>
                  <a:cubicBezTo>
                    <a:pt x="3128" y="10285"/>
                    <a:pt x="3163" y="10485"/>
                    <a:pt x="3170" y="10691"/>
                  </a:cubicBezTo>
                  <a:cubicBezTo>
                    <a:pt x="3179" y="10949"/>
                    <a:pt x="3144" y="11205"/>
                    <a:pt x="3071" y="11430"/>
                  </a:cubicBezTo>
                  <a:lnTo>
                    <a:pt x="57" y="20658"/>
                  </a:lnTo>
                  <a:cubicBezTo>
                    <a:pt x="-19" y="20859"/>
                    <a:pt x="-18" y="21117"/>
                    <a:pt x="59" y="21317"/>
                  </a:cubicBezTo>
                  <a:cubicBezTo>
                    <a:pt x="128" y="21497"/>
                    <a:pt x="249" y="21600"/>
                    <a:pt x="376" y="21587"/>
                  </a:cubicBezTo>
                  <a:lnTo>
                    <a:pt x="17813" y="21579"/>
                  </a:lnTo>
                  <a:cubicBezTo>
                    <a:pt x="17911" y="21586"/>
                    <a:pt x="18007" y="21549"/>
                    <a:pt x="18093" y="21470"/>
                  </a:cubicBezTo>
                  <a:cubicBezTo>
                    <a:pt x="18185" y="21386"/>
                    <a:pt x="18260" y="21258"/>
                    <a:pt x="18310" y="21103"/>
                  </a:cubicBezTo>
                  <a:lnTo>
                    <a:pt x="21509" y="11332"/>
                  </a:lnTo>
                  <a:cubicBezTo>
                    <a:pt x="21554" y="11170"/>
                    <a:pt x="21578" y="10993"/>
                    <a:pt x="21580" y="10814"/>
                  </a:cubicBezTo>
                  <a:cubicBezTo>
                    <a:pt x="21581" y="10628"/>
                    <a:pt x="21558" y="10443"/>
                    <a:pt x="21511" y="10273"/>
                  </a:cubicBezTo>
                  <a:lnTo>
                    <a:pt x="18301" y="438"/>
                  </a:lnTo>
                  <a:cubicBezTo>
                    <a:pt x="18261" y="314"/>
                    <a:pt x="18203" y="210"/>
                    <a:pt x="18133" y="135"/>
                  </a:cubicBezTo>
                  <a:cubicBezTo>
                    <a:pt x="18060" y="56"/>
                    <a:pt x="17976" y="12"/>
                    <a:pt x="17889" y="7"/>
                  </a:cubicBezTo>
                  <a:lnTo>
                    <a:pt x="387" y="0"/>
                  </a:lnTo>
                  <a:close/>
                </a:path>
              </a:pathLst>
            </a:custGeom>
            <a:solidFill>
              <a:srgbClr val="8497B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52081A43-AE1C-6766-1993-48A52F11419B}"/>
                </a:ext>
              </a:extLst>
            </p:cNvPr>
            <p:cNvSpPr/>
            <p:nvPr/>
          </p:nvSpPr>
          <p:spPr>
            <a:xfrm>
              <a:off x="4107469" y="-1"/>
              <a:ext cx="4655496" cy="2746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9" h="21588" extrusionOk="0">
                  <a:moveTo>
                    <a:pt x="387" y="0"/>
                  </a:moveTo>
                  <a:cubicBezTo>
                    <a:pt x="250" y="1"/>
                    <a:pt x="124" y="126"/>
                    <a:pt x="57" y="329"/>
                  </a:cubicBezTo>
                  <a:cubicBezTo>
                    <a:pt x="0" y="503"/>
                    <a:pt x="-6" y="714"/>
                    <a:pt x="42" y="897"/>
                  </a:cubicBezTo>
                  <a:lnTo>
                    <a:pt x="3069" y="10105"/>
                  </a:lnTo>
                  <a:cubicBezTo>
                    <a:pt x="3128" y="10285"/>
                    <a:pt x="3163" y="10485"/>
                    <a:pt x="3170" y="10691"/>
                  </a:cubicBezTo>
                  <a:cubicBezTo>
                    <a:pt x="3179" y="10949"/>
                    <a:pt x="3144" y="11205"/>
                    <a:pt x="3071" y="11430"/>
                  </a:cubicBezTo>
                  <a:lnTo>
                    <a:pt x="57" y="20658"/>
                  </a:lnTo>
                  <a:cubicBezTo>
                    <a:pt x="-19" y="20859"/>
                    <a:pt x="-18" y="21117"/>
                    <a:pt x="59" y="21317"/>
                  </a:cubicBezTo>
                  <a:cubicBezTo>
                    <a:pt x="128" y="21497"/>
                    <a:pt x="249" y="21600"/>
                    <a:pt x="376" y="21587"/>
                  </a:cubicBezTo>
                  <a:lnTo>
                    <a:pt x="17813" y="21579"/>
                  </a:lnTo>
                  <a:cubicBezTo>
                    <a:pt x="17911" y="21586"/>
                    <a:pt x="18007" y="21549"/>
                    <a:pt x="18093" y="21470"/>
                  </a:cubicBezTo>
                  <a:cubicBezTo>
                    <a:pt x="18185" y="21386"/>
                    <a:pt x="18260" y="21258"/>
                    <a:pt x="18310" y="21103"/>
                  </a:cubicBezTo>
                  <a:lnTo>
                    <a:pt x="21509" y="11332"/>
                  </a:lnTo>
                  <a:cubicBezTo>
                    <a:pt x="21554" y="11170"/>
                    <a:pt x="21578" y="10993"/>
                    <a:pt x="21580" y="10814"/>
                  </a:cubicBezTo>
                  <a:cubicBezTo>
                    <a:pt x="21581" y="10628"/>
                    <a:pt x="21558" y="10443"/>
                    <a:pt x="21511" y="10273"/>
                  </a:cubicBezTo>
                  <a:lnTo>
                    <a:pt x="18301" y="438"/>
                  </a:lnTo>
                  <a:cubicBezTo>
                    <a:pt x="18261" y="314"/>
                    <a:pt x="18203" y="210"/>
                    <a:pt x="18133" y="135"/>
                  </a:cubicBezTo>
                  <a:cubicBezTo>
                    <a:pt x="18060" y="56"/>
                    <a:pt x="17976" y="12"/>
                    <a:pt x="17889" y="7"/>
                  </a:cubicBezTo>
                  <a:lnTo>
                    <a:pt x="387" y="0"/>
                  </a:lnTo>
                  <a:close/>
                </a:path>
              </a:pathLst>
            </a:custGeom>
            <a:solidFill>
              <a:srgbClr val="D4D4D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33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8EADC030-50FB-89E1-B75D-F5609D88EC56}"/>
              </a:ext>
            </a:extLst>
          </p:cNvPr>
          <p:cNvSpPr txBox="1"/>
          <p:nvPr/>
        </p:nvSpPr>
        <p:spPr>
          <a:xfrm>
            <a:off x="4500947" y="5430413"/>
            <a:ext cx="876089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buClr>
                <a:schemeClr val="accent1"/>
              </a:buClr>
              <a:buSzPct val="100000"/>
              <a:defRPr sz="20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fr-FR" dirty="0">
                <a:solidFill>
                  <a:schemeClr val="tx2"/>
                </a:solidFill>
              </a:rPr>
              <a:t>2 h 30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589C0E2E-A41F-D214-49A2-5213D29B41F4}"/>
              </a:ext>
            </a:extLst>
          </p:cNvPr>
          <p:cNvSpPr txBox="1"/>
          <p:nvPr/>
        </p:nvSpPr>
        <p:spPr>
          <a:xfrm>
            <a:off x="8560059" y="5484355"/>
            <a:ext cx="876090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buClr>
                <a:schemeClr val="accent2"/>
              </a:buClr>
              <a:buSzPct val="100000"/>
              <a:defRPr sz="20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fr-FR" dirty="0">
                <a:solidFill>
                  <a:schemeClr val="tx2"/>
                </a:solidFill>
              </a:rPr>
              <a:t>1 h 30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C26895B-6B8D-851D-B456-060494C1BBE7}"/>
              </a:ext>
            </a:extLst>
          </p:cNvPr>
          <p:cNvSpPr txBox="1"/>
          <p:nvPr/>
        </p:nvSpPr>
        <p:spPr>
          <a:xfrm>
            <a:off x="3467625" y="1520181"/>
            <a:ext cx="1602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 - Préparation</a:t>
            </a:r>
            <a:endParaRPr lang="fr-FR" sz="1800" b="1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6037797-84CA-CE78-4E7E-D59A4439AFCC}"/>
              </a:ext>
            </a:extLst>
          </p:cNvPr>
          <p:cNvSpPr txBox="1"/>
          <p:nvPr/>
        </p:nvSpPr>
        <p:spPr>
          <a:xfrm>
            <a:off x="7751806" y="1520181"/>
            <a:ext cx="2814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II – Exécution des exigences</a:t>
            </a:r>
            <a:endParaRPr lang="fr-FR" sz="1800" b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E66ADA-65B7-05E6-12BF-C997AD28F815}"/>
              </a:ext>
            </a:extLst>
          </p:cNvPr>
          <p:cNvSpPr txBox="1"/>
          <p:nvPr/>
        </p:nvSpPr>
        <p:spPr>
          <a:xfrm>
            <a:off x="3242573" y="2424527"/>
            <a:ext cx="42689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QMH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de fichier Entrée/Sortie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</a:t>
            </a:r>
            <a:r>
              <a:rPr lang="fr-FR" dirty="0" err="1"/>
              <a:t>Timer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FGV Statique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Réaliser les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documente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F808F76-4F7A-749D-B62C-9E67ECBDDB15}"/>
              </a:ext>
            </a:extLst>
          </p:cNvPr>
          <p:cNvSpPr txBox="1"/>
          <p:nvPr/>
        </p:nvSpPr>
        <p:spPr>
          <a:xfrm>
            <a:off x="7638498" y="2170438"/>
            <a:ext cx="41852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Simulation Interface </a:t>
            </a:r>
            <a:r>
              <a:rPr lang="fr-FR" dirty="0" err="1"/>
              <a:t>Requirements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User Interface </a:t>
            </a:r>
            <a:r>
              <a:rPr lang="fr-FR" dirty="0" err="1"/>
              <a:t>Requirements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Display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Sensor</a:t>
            </a:r>
            <a:r>
              <a:rPr lang="fr-FR" dirty="0"/>
              <a:t>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Initial State </a:t>
            </a:r>
            <a:r>
              <a:rPr lang="fr-FR" dirty="0" err="1"/>
              <a:t>Requirements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Terminate</a:t>
            </a:r>
            <a:r>
              <a:rPr lang="fr-FR" dirty="0"/>
              <a:t> State </a:t>
            </a:r>
            <a:r>
              <a:rPr lang="fr-FR" dirty="0" err="1"/>
              <a:t>Requirements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Error</a:t>
            </a:r>
            <a:r>
              <a:rPr lang="fr-FR" dirty="0"/>
              <a:t> Handling </a:t>
            </a:r>
            <a:r>
              <a:rPr lang="fr-FR" dirty="0" err="1"/>
              <a:t>Requirements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7834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FD82A11-03B8-0F85-DE6D-B0B25C639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46" y="-7716"/>
            <a:ext cx="12192000" cy="111355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9E3A3E1-3509-ABAF-0DB2-1525DEC25C83}"/>
              </a:ext>
            </a:extLst>
          </p:cNvPr>
          <p:cNvSpPr txBox="1"/>
          <p:nvPr/>
        </p:nvSpPr>
        <p:spPr>
          <a:xfrm>
            <a:off x="2676089" y="1512612"/>
            <a:ext cx="951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Entraînez-vous sur au moins deux ou trois sujets en conditions réelles d’examen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Prenez 5 min pour customiser votre LabVIEW (NXG contrôle et désactiver les terminaux icônes)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Gérez votre temps en le travaillant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Maîtriser parfaitement les architectures QMH et machines d’état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Ayez un modèle d’architecture modulaire déjà prêt, pas d’improvisation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Convention de nommage facile à comprendre et documentation de qualité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Maîtriser les FGV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Cartésien dans les états (</a:t>
            </a:r>
            <a:r>
              <a:rPr lang="fr-FR" dirty="0" err="1"/>
              <a:t>declaration</a:t>
            </a:r>
            <a:r>
              <a:rPr lang="fr-FR" dirty="0"/>
              <a:t>, </a:t>
            </a:r>
            <a:r>
              <a:rPr lang="fr-FR" dirty="0" err="1"/>
              <a:t>initialize</a:t>
            </a:r>
            <a:r>
              <a:rPr lang="fr-FR" dirty="0"/>
              <a:t>, </a:t>
            </a:r>
            <a:r>
              <a:rPr lang="fr-FR" dirty="0" err="1"/>
              <a:t>error</a:t>
            </a:r>
            <a:r>
              <a:rPr lang="fr-FR" dirty="0"/>
              <a:t>, display, exit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Nomenclature des états simple et facile à comprendre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tient sur un écran maximum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 la documentation claire, complète et concise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Montrez que vous avez des compétences et que vous avez une vision d’ensemble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Soyez simple et efficace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code avec amour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582389-EE82-C731-90B0-12027159B794}"/>
              </a:ext>
            </a:extLst>
          </p:cNvPr>
          <p:cNvSpPr txBox="1"/>
          <p:nvPr/>
        </p:nvSpPr>
        <p:spPr>
          <a:xfrm>
            <a:off x="1243668" y="561874"/>
            <a:ext cx="611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Pour résumer</a:t>
            </a:r>
          </a:p>
        </p:txBody>
      </p:sp>
    </p:spTree>
    <p:extLst>
      <p:ext uri="{BB962C8B-B14F-4D97-AF65-F5344CB8AC3E}">
        <p14:creationId xmlns:p14="http://schemas.microsoft.com/office/powerpoint/2010/main" val="1924285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F5FF8F-636B-2542-12BE-FA445C8A9EB1}"/>
              </a:ext>
            </a:extLst>
          </p:cNvPr>
          <p:cNvSpPr/>
          <p:nvPr/>
        </p:nvSpPr>
        <p:spPr>
          <a:xfrm>
            <a:off x="0" y="6249889"/>
            <a:ext cx="12191999" cy="4254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EBE9C6-C9E2-0C6C-7F06-065A8D3A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8" y="6231272"/>
            <a:ext cx="1368124" cy="4440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2DA5EA-8735-345A-818A-48F2ADD5E977}"/>
              </a:ext>
            </a:extLst>
          </p:cNvPr>
          <p:cNvSpPr txBox="1"/>
          <p:nvPr/>
        </p:nvSpPr>
        <p:spPr>
          <a:xfrm>
            <a:off x="2859120" y="628594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Préparation à la certification CLA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24EE6E3-7D71-43EE-3029-E3A54D90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955" y="6046391"/>
            <a:ext cx="761968" cy="769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531739C-26A7-1041-F36A-94E54AB7CD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40" y="878946"/>
            <a:ext cx="4328119" cy="432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786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842</Words>
  <Application>Microsoft Office PowerPoint</Application>
  <PresentationFormat>Grand écran</PresentationFormat>
  <Paragraphs>153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Arial</vt:lpstr>
      <vt:lpstr>Barlow Medium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Youssef Menjour</dc:creator>
  <cp:lastModifiedBy>Youssef Menjour</cp:lastModifiedBy>
  <cp:revision>56</cp:revision>
  <dcterms:created xsi:type="dcterms:W3CDTF">2022-07-13T08:10:39Z</dcterms:created>
  <dcterms:modified xsi:type="dcterms:W3CDTF">2022-07-21T10:33:20Z</dcterms:modified>
</cp:coreProperties>
</file>
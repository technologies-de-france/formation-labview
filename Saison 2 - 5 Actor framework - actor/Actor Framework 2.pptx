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handoutMasterIdLst>
    <p:handoutMasterId r:id="rId11"/>
  </p:handoutMasterIdLst>
  <p:sldIdLst>
    <p:sldId id="337" r:id="rId2"/>
    <p:sldId id="434" r:id="rId3"/>
    <p:sldId id="425" r:id="rId4"/>
    <p:sldId id="435" r:id="rId5"/>
    <p:sldId id="432" r:id="rId6"/>
    <p:sldId id="437" r:id="rId7"/>
    <p:sldId id="391" r:id="rId8"/>
    <p:sldId id="43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161B"/>
    <a:srgbClr val="4776CC"/>
    <a:srgbClr val="FFDA1C"/>
    <a:srgbClr val="FFFFFF"/>
    <a:srgbClr val="000000"/>
    <a:srgbClr val="303030"/>
    <a:srgbClr val="13162A"/>
    <a:srgbClr val="2A1613"/>
    <a:srgbClr val="424242"/>
    <a:srgbClr val="B3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897" autoAdjust="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2601A92-4F22-6D7F-6C2D-01EEBEE984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5481A6-8230-E2F3-EE68-FBB89C30D2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C0614-433A-4636-8147-8DA2A0094A27}" type="datetimeFigureOut">
              <a:rPr lang="fr-FR" smtClean="0"/>
              <a:t>09/11/2023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F133A1B-8FF4-46A5-F8DD-BF4D982C72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EE9414-3220-507D-CA3F-3B9DDF89B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8FCA5-1245-41E9-9706-A344A4889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936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7D3A4-DA68-4781-A320-4187DDEB23D2}" type="datetimeFigureOut">
              <a:rPr lang="fr-FR" smtClean="0"/>
              <a:t>09/11/2023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F4ED9-BFD2-46DB-930A-08E21053BA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9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84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</a:t>
            </a:r>
            <a:r>
              <a:rPr lang="fr-FR" dirty="0" err="1"/>
              <a:t>actor</a:t>
            </a:r>
            <a:r>
              <a:rPr lang="fr-FR" dirty="0"/>
              <a:t> c’est </a:t>
            </a:r>
            <a:r>
              <a:rPr lang="fr-FR" b="1" dirty="0"/>
              <a:t>l’équivalent</a:t>
            </a:r>
            <a:r>
              <a:rPr lang="fr-FR" dirty="0"/>
              <a:t> d’une </a:t>
            </a:r>
            <a:r>
              <a:rPr lang="fr-FR" b="1" dirty="0"/>
              <a:t>machine d’état </a:t>
            </a:r>
          </a:p>
          <a:p>
            <a:endParaRPr lang="fr-FR" b="1" dirty="0"/>
          </a:p>
          <a:p>
            <a:r>
              <a:rPr lang="fr-FR" b="1" dirty="0"/>
              <a:t>LA forme canonique dont on hérite dans un </a:t>
            </a:r>
            <a:r>
              <a:rPr lang="fr-FR" b="1" dirty="0" err="1"/>
              <a:t>actor</a:t>
            </a:r>
            <a:r>
              <a:rPr lang="fr-FR" b="1" dirty="0"/>
              <a:t> se sont pour rappel les états de base de la machine d’état dans le contexte </a:t>
            </a:r>
            <a:r>
              <a:rPr lang="fr-FR" b="1" dirty="0" err="1"/>
              <a:t>actor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52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On va choisir ce point de départ pour expliquer le mécanisme des messages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Mécanisme de message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067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srgbClr val="374151"/>
                </a:solidFill>
                <a:latin typeface="Söhne"/>
              </a:rPr>
              <a:t>A chaque fois qu’on va créer un état dans notre machine d’état </a:t>
            </a:r>
            <a:r>
              <a:rPr lang="fr-FR" dirty="0" err="1">
                <a:solidFill>
                  <a:srgbClr val="374151"/>
                </a:solidFill>
                <a:latin typeface="Söhne"/>
              </a:rPr>
              <a:t>actor</a:t>
            </a:r>
            <a:r>
              <a:rPr lang="fr-FR" dirty="0">
                <a:solidFill>
                  <a:srgbClr val="374151"/>
                </a:solidFill>
                <a:latin typeface="Söhne"/>
              </a:rPr>
              <a:t> </a:t>
            </a:r>
            <a:r>
              <a:rPr lang="fr-FR" dirty="0" err="1">
                <a:solidFill>
                  <a:srgbClr val="374151"/>
                </a:solidFill>
                <a:latin typeface="Söhne"/>
              </a:rPr>
              <a:t>framework</a:t>
            </a:r>
            <a:r>
              <a:rPr lang="fr-FR" dirty="0">
                <a:solidFill>
                  <a:srgbClr val="374151"/>
                </a:solidFill>
                <a:latin typeface="Söhne"/>
              </a:rPr>
              <a:t>, on va créer un message qui va permettre de lancer cet état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264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Aujourd’hui on ne va s’intéresser qu’à la machine d’état (l’</a:t>
            </a:r>
            <a:r>
              <a:rPr lang="fr-FR" dirty="0" err="1"/>
              <a:t>actor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On va donc déjà maitriser le fonctionnement de celle-ci et on va donc jouer avec les VI qui ne traite que de l’interne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Le stop c’est un message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262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Aujourd’hui on ne va s’intéresser qu’à la machine d’état (l’</a:t>
            </a:r>
            <a:r>
              <a:rPr lang="fr-FR" dirty="0" err="1"/>
              <a:t>actor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On va donc déjà maitriser le fonctionnement de celle-ci et on va donc jouer avec les VI qui ne traite que de l’interne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Le stop c’est un message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398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srgbClr val="374151"/>
                </a:solidFill>
                <a:latin typeface="Söhne"/>
              </a:rPr>
              <a:t>A</a:t>
            </a: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nnées 1970 par Carl Hewitt</a:t>
            </a:r>
            <a:endParaRPr lang="fr-FR" dirty="0"/>
          </a:p>
          <a:p>
            <a:r>
              <a:rPr lang="fr-FR" dirty="0"/>
              <a:t>Prof du MIT</a:t>
            </a:r>
            <a:br>
              <a:rPr lang="fr-FR" dirty="0"/>
            </a:br>
            <a:br>
              <a:rPr lang="fr-FR" dirty="0"/>
            </a:br>
            <a:r>
              <a:rPr lang="fr-FR" b="1" dirty="0"/>
              <a:t>Acteur</a:t>
            </a:r>
            <a:r>
              <a:rPr lang="fr-FR" dirty="0"/>
              <a:t> (</a:t>
            </a:r>
            <a:r>
              <a:rPr lang="fr-FR" b="1" dirty="0"/>
              <a:t>thread</a:t>
            </a:r>
            <a:r>
              <a:rPr lang="fr-FR" dirty="0"/>
              <a:t> qui est en fait une </a:t>
            </a:r>
            <a:r>
              <a:rPr lang="fr-FR" b="1" dirty="0"/>
              <a:t>machine d’état</a:t>
            </a:r>
            <a:r>
              <a:rPr lang="fr-FR" dirty="0"/>
              <a:t>) puisse lancer un autre acteur qui à son tour puisse lancer un autre acteur</a:t>
            </a:r>
            <a:br>
              <a:rPr lang="fr-FR" dirty="0"/>
            </a:br>
            <a:br>
              <a:rPr lang="fr-FR" dirty="0"/>
            </a:br>
            <a:r>
              <a:rPr lang="fr-FR" dirty="0"/>
              <a:t>Bien évidemment un acteur peut lancer plusieurs acteurs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C’est l’avènement de la </a:t>
            </a:r>
            <a:r>
              <a:rPr lang="fr-FR" b="1" dirty="0">
                <a:solidFill>
                  <a:srgbClr val="FF0000"/>
                </a:solidFill>
              </a:rPr>
              <a:t>flexibilité architecturale </a:t>
            </a:r>
            <a:r>
              <a:rPr lang="fr-FR" dirty="0"/>
              <a:t>car une fois la tâche d’un acteur terminé, il peut communiquer ses données à l’acteur qui l’a lancé et se fermer </a:t>
            </a:r>
            <a:br>
              <a:rPr lang="fr-FR" dirty="0"/>
            </a:br>
            <a:r>
              <a:rPr lang="fr-FR" dirty="0"/>
              <a:t>On est dans </a:t>
            </a:r>
            <a:r>
              <a:rPr lang="fr-FR" b="1" dirty="0">
                <a:solidFill>
                  <a:srgbClr val="FF0000"/>
                </a:solidFill>
              </a:rPr>
              <a:t>l’optimisation de ressource</a:t>
            </a:r>
            <a:r>
              <a:rPr lang="fr-FR" dirty="0"/>
              <a:t>, on utilise uniquement les ressource dont on a besoin</a:t>
            </a:r>
          </a:p>
          <a:p>
            <a:endParaRPr lang="fr-FR" dirty="0"/>
          </a:p>
          <a:p>
            <a:r>
              <a:rPr lang="fr-FR" dirty="0"/>
              <a:t>Bien évidemment l’acteur </a:t>
            </a:r>
            <a:r>
              <a:rPr lang="fr-FR" dirty="0" err="1"/>
              <a:t>framework</a:t>
            </a:r>
            <a:r>
              <a:rPr lang="fr-FR" dirty="0"/>
              <a:t> sera comme la QMH </a:t>
            </a:r>
            <a:r>
              <a:rPr lang="fr-FR" b="1" i="0" dirty="0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Haute </a:t>
            </a:r>
            <a:r>
              <a:rPr lang="fr-FR" b="1" i="0" dirty="0" err="1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cohesion</a:t>
            </a:r>
            <a:r>
              <a:rPr lang="fr-FR" b="1" i="0" dirty="0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 et Faible interdépendance </a:t>
            </a:r>
          </a:p>
          <a:p>
            <a:endParaRPr lang="fr-FR" b="1" i="0" dirty="0">
              <a:solidFill>
                <a:srgbClr val="374151"/>
              </a:solidFill>
              <a:effectLst/>
              <a:latin typeface="Söhne"/>
              <a:sym typeface="Wingdings" panose="05000000000000000000" pitchFamily="2" charset="2"/>
            </a:endParaRPr>
          </a:p>
          <a:p>
            <a:r>
              <a:rPr lang="fr-FR" b="1" i="0" dirty="0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L’</a:t>
            </a:r>
            <a:r>
              <a:rPr lang="fr-FR" b="1" i="0" dirty="0" err="1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acrhitecture</a:t>
            </a:r>
            <a:r>
              <a:rPr lang="fr-FR" b="1" i="0" dirty="0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 est </a:t>
            </a:r>
            <a:r>
              <a:rPr lang="fr-FR" b="1" i="0" dirty="0" err="1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malleable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4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DA557-6629-4082-8F8A-175FD7D9A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F4500-D31D-4FE6-A267-65867307D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69453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7356EA-1477-46BE-B6FD-5DFDC9A93666}"/>
              </a:ext>
            </a:extLst>
          </p:cNvPr>
          <p:cNvSpPr/>
          <p:nvPr userDrawn="1"/>
        </p:nvSpPr>
        <p:spPr>
          <a:xfrm>
            <a:off x="0" y="6472406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FE5498C-86E0-4D1D-96FB-13E77ECDEB71}"/>
              </a:ext>
            </a:extLst>
          </p:cNvPr>
          <p:cNvSpPr txBox="1"/>
          <p:nvPr userDrawn="1"/>
        </p:nvSpPr>
        <p:spPr>
          <a:xfrm>
            <a:off x="8395855" y="6528170"/>
            <a:ext cx="3629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y.menjour@technologies-france.com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824A00-C672-4E54-8C91-9BAC4E36143B}"/>
              </a:ext>
            </a:extLst>
          </p:cNvPr>
          <p:cNvSpPr/>
          <p:nvPr userDrawn="1"/>
        </p:nvSpPr>
        <p:spPr>
          <a:xfrm>
            <a:off x="0" y="-2064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907A1E0-EC1B-456A-9113-122FCEC8D05A}"/>
              </a:ext>
            </a:extLst>
          </p:cNvPr>
          <p:cNvSpPr txBox="1"/>
          <p:nvPr userDrawn="1"/>
        </p:nvSpPr>
        <p:spPr>
          <a:xfrm>
            <a:off x="0" y="52831"/>
            <a:ext cx="3042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Actor Framework - Introduction</a:t>
            </a:r>
            <a:endParaRPr lang="fr-F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33D293-7536-4199-B9E3-84BBA80E2AF3}"/>
              </a:ext>
            </a:extLst>
          </p:cNvPr>
          <p:cNvSpPr txBox="1"/>
          <p:nvPr userDrawn="1"/>
        </p:nvSpPr>
        <p:spPr>
          <a:xfrm>
            <a:off x="5820019" y="6526703"/>
            <a:ext cx="551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229B192-6592-499F-9C65-752160CB852F}" type="slidenum">
              <a:rPr lang="fr-FR" sz="12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‹N°›</a:t>
            </a:fld>
            <a:endParaRPr lang="fr-FR" sz="1200" kern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FEC667-FC3F-4958-8A9E-6CC0F5FFC06A}"/>
              </a:ext>
            </a:extLst>
          </p:cNvPr>
          <p:cNvSpPr txBox="1"/>
          <p:nvPr userDrawn="1"/>
        </p:nvSpPr>
        <p:spPr>
          <a:xfrm>
            <a:off x="9790177" y="52233"/>
            <a:ext cx="2401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www.technologies-france.com</a:t>
            </a:r>
          </a:p>
        </p:txBody>
      </p:sp>
    </p:spTree>
    <p:extLst>
      <p:ext uri="{BB962C8B-B14F-4D97-AF65-F5344CB8AC3E}">
        <p14:creationId xmlns:p14="http://schemas.microsoft.com/office/powerpoint/2010/main" val="147983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hyperlink" Target="http://www.technologies-france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6C43977-35D7-979E-A836-9003D882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72192B13-00E5-0D0C-4A18-7BC9F18D7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680" y="1704488"/>
            <a:ext cx="2579664" cy="3104341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651DF6F-CFF7-E5AE-5E35-48058BA215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026" y="324272"/>
            <a:ext cx="877014" cy="88587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C6D9E0F-CF27-FB3C-A3C3-D712C0D4C57D}"/>
              </a:ext>
            </a:extLst>
          </p:cNvPr>
          <p:cNvSpPr txBox="1"/>
          <p:nvPr/>
        </p:nvSpPr>
        <p:spPr>
          <a:xfrm>
            <a:off x="1979658" y="382487"/>
            <a:ext cx="82237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 Framework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0B73C00-C179-7178-3EC8-E4E24D39B2B4}"/>
              </a:ext>
            </a:extLst>
          </p:cNvPr>
          <p:cNvSpPr txBox="1"/>
          <p:nvPr/>
        </p:nvSpPr>
        <p:spPr>
          <a:xfrm>
            <a:off x="4920621" y="5361389"/>
            <a:ext cx="23417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endParaRPr lang="fr-FR" dirty="0"/>
          </a:p>
        </p:txBody>
      </p:sp>
      <p:pic>
        <p:nvPicPr>
          <p:cNvPr id="30" name="Image 29" descr="Une image contenant texte&#10;&#10;Description générée automatiquement">
            <a:extLst>
              <a:ext uri="{FF2B5EF4-FFF2-40B4-BE49-F238E27FC236}">
                <a16:creationId xmlns:a16="http://schemas.microsoft.com/office/drawing/2014/main" id="{52F91B36-9EE6-7B62-E5DD-22C9CCECF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57" y="5149334"/>
            <a:ext cx="1189318" cy="119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1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3F442F-4056-9D4B-2CB1-BCA3B5090803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12763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2FB1522-3783-21DC-9AD6-C159AB91A196}"/>
              </a:ext>
            </a:extLst>
          </p:cNvPr>
          <p:cNvSpPr txBox="1"/>
          <p:nvPr/>
        </p:nvSpPr>
        <p:spPr>
          <a:xfrm>
            <a:off x="82408" y="733637"/>
            <a:ext cx="110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E9E617C-6F60-5C7D-1A80-F823496C0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234" y="1065469"/>
            <a:ext cx="4029075" cy="4371975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1F03721F-8BA3-1D27-C1D7-2C2A9D941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431" y="1281568"/>
            <a:ext cx="713214" cy="713214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7F585343-5FC2-DD69-0D1A-FFA0584E2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431" y="3251457"/>
            <a:ext cx="654005" cy="654005"/>
          </a:xfrm>
          <a:prstGeom prst="rect">
            <a:avLst/>
          </a:prstGeom>
        </p:spPr>
      </p:pic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7F46591B-8723-654C-7800-93841DD46461}"/>
              </a:ext>
            </a:extLst>
          </p:cNvPr>
          <p:cNvCxnSpPr>
            <a:cxnSpLocks/>
          </p:cNvCxnSpPr>
          <p:nvPr/>
        </p:nvCxnSpPr>
        <p:spPr>
          <a:xfrm>
            <a:off x="10733433" y="2114550"/>
            <a:ext cx="0" cy="88170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EAEE0C1-B2B0-DD53-6BDC-6C7B20807C74}"/>
              </a:ext>
            </a:extLst>
          </p:cNvPr>
          <p:cNvSpPr txBox="1"/>
          <p:nvPr/>
        </p:nvSpPr>
        <p:spPr>
          <a:xfrm>
            <a:off x="10263603" y="3914617"/>
            <a:ext cx="110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330B565-2914-846E-81BD-2122111D3AFE}"/>
              </a:ext>
            </a:extLst>
          </p:cNvPr>
          <p:cNvSpPr txBox="1"/>
          <p:nvPr/>
        </p:nvSpPr>
        <p:spPr>
          <a:xfrm>
            <a:off x="10096294" y="692303"/>
            <a:ext cx="1442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Objet</a:t>
            </a:r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 NI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2391CEE-5883-56C7-FAAE-FF5A2AAD943D}"/>
              </a:ext>
            </a:extLst>
          </p:cNvPr>
          <p:cNvSpPr txBox="1"/>
          <p:nvPr/>
        </p:nvSpPr>
        <p:spPr>
          <a:xfrm>
            <a:off x="3782794" y="1696381"/>
            <a:ext cx="2144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Forme Canonique</a:t>
            </a:r>
          </a:p>
          <a:p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Actor 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Error.vi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Core.vi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 Launch Init.vi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Message.vi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Core.vi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Substitute Actor.vi</a:t>
            </a:r>
            <a:endParaRPr lang="fr-FR" sz="14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8989EBD-4D51-DFB1-8F53-32BBC9D6C7A5}"/>
              </a:ext>
            </a:extLst>
          </p:cNvPr>
          <p:cNvSpPr txBox="1"/>
          <p:nvPr/>
        </p:nvSpPr>
        <p:spPr>
          <a:xfrm>
            <a:off x="3782794" y="1696381"/>
            <a:ext cx="2144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Forme Canonique</a:t>
            </a:r>
          </a:p>
          <a:p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Actor 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14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b="1" i="0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Error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Core.vi</a:t>
            </a:r>
          </a:p>
          <a:p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 Launch Init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Message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Core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Substitute Actor.vi</a:t>
            </a:r>
            <a:endParaRPr lang="fr-FR" sz="14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256E6E7-B2F8-C99F-6D3C-A2DB4F41AD95}"/>
              </a:ext>
            </a:extLst>
          </p:cNvPr>
          <p:cNvSpPr txBox="1"/>
          <p:nvPr/>
        </p:nvSpPr>
        <p:spPr>
          <a:xfrm>
            <a:off x="10172494" y="4503521"/>
            <a:ext cx="1560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États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#Fonctions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Méthodes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#Messages</a:t>
            </a:r>
          </a:p>
        </p:txBody>
      </p:sp>
    </p:spTree>
    <p:extLst>
      <p:ext uri="{BB962C8B-B14F-4D97-AF65-F5344CB8AC3E}">
        <p14:creationId xmlns:p14="http://schemas.microsoft.com/office/powerpoint/2010/main" val="78218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2" grpId="1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9238A12-5129-D037-8DC7-55A3586FA636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6479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2D2952C-3362-0D68-A62D-495AA1B07A15}"/>
              </a:ext>
            </a:extLst>
          </p:cNvPr>
          <p:cNvSpPr txBox="1"/>
          <p:nvPr/>
        </p:nvSpPr>
        <p:spPr>
          <a:xfrm>
            <a:off x="0" y="741809"/>
            <a:ext cx="2715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 Framework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8373CBE-9B61-40E4-29A1-DBEF8F36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543" y="812949"/>
            <a:ext cx="3028950" cy="981075"/>
          </a:xfrm>
          <a:prstGeom prst="rect">
            <a:avLst/>
          </a:prstGeom>
        </p:spPr>
      </p:pic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5DECF4-4F11-FBFF-7909-E8CF93A53F6F}"/>
              </a:ext>
            </a:extLst>
          </p:cNvPr>
          <p:cNvCxnSpPr>
            <a:cxnSpLocks/>
          </p:cNvCxnSpPr>
          <p:nvPr/>
        </p:nvCxnSpPr>
        <p:spPr>
          <a:xfrm>
            <a:off x="7391400" y="2804492"/>
            <a:ext cx="0" cy="164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206ED399-3AC7-1A7A-C396-57A0C248E098}"/>
              </a:ext>
            </a:extLst>
          </p:cNvPr>
          <p:cNvCxnSpPr/>
          <p:nvPr/>
        </p:nvCxnSpPr>
        <p:spPr>
          <a:xfrm>
            <a:off x="9553575" y="2804491"/>
            <a:ext cx="0" cy="1647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110C35D1-C39B-6B64-9BC6-2CDE5D9A4590}"/>
              </a:ext>
            </a:extLst>
          </p:cNvPr>
          <p:cNvSpPr txBox="1"/>
          <p:nvPr/>
        </p:nvSpPr>
        <p:spPr>
          <a:xfrm>
            <a:off x="6079334" y="2435159"/>
            <a:ext cx="538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endParaRPr lang="fr-FR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5C46BD7-CD98-CBB2-3918-26017DD4C154}"/>
              </a:ext>
            </a:extLst>
          </p:cNvPr>
          <p:cNvSpPr txBox="1"/>
          <p:nvPr/>
        </p:nvSpPr>
        <p:spPr>
          <a:xfrm>
            <a:off x="8196265" y="2435159"/>
            <a:ext cx="538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endParaRPr lang="fr-FR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005F92A-79BF-5AF2-8678-00581218E3F5}"/>
              </a:ext>
            </a:extLst>
          </p:cNvPr>
          <p:cNvSpPr txBox="1"/>
          <p:nvPr/>
        </p:nvSpPr>
        <p:spPr>
          <a:xfrm>
            <a:off x="10320335" y="2435159"/>
            <a:ext cx="838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Close</a:t>
            </a:r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55A14F9-CBBF-180E-6AA1-2B4D4DA87B31}"/>
              </a:ext>
            </a:extLst>
          </p:cNvPr>
          <p:cNvSpPr txBox="1"/>
          <p:nvPr/>
        </p:nvSpPr>
        <p:spPr>
          <a:xfrm>
            <a:off x="7731919" y="3452527"/>
            <a:ext cx="1466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Actor </a:t>
            </a:r>
            <a:r>
              <a:rPr lang="fr-FR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9B9533C-23F2-CBAD-3A94-47D2C95BE849}"/>
              </a:ext>
            </a:extLst>
          </p:cNvPr>
          <p:cNvSpPr txBox="1"/>
          <p:nvPr/>
        </p:nvSpPr>
        <p:spPr>
          <a:xfrm>
            <a:off x="5462588" y="3452527"/>
            <a:ext cx="1771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 Launch Init</a:t>
            </a:r>
            <a:endParaRPr lang="fr-FR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E9E54F8-4C5B-20F5-E431-192EF1F68D57}"/>
              </a:ext>
            </a:extLst>
          </p:cNvPr>
          <p:cNvSpPr txBox="1"/>
          <p:nvPr/>
        </p:nvSpPr>
        <p:spPr>
          <a:xfrm>
            <a:off x="10115548" y="3452527"/>
            <a:ext cx="1247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</a:t>
            </a:r>
            <a:r>
              <a:rPr lang="fr-FR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endParaRPr lang="fr-FR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1AB92DE-1974-3B70-5682-6C5BBAA51FD4}"/>
              </a:ext>
            </a:extLst>
          </p:cNvPr>
          <p:cNvSpPr txBox="1"/>
          <p:nvPr/>
        </p:nvSpPr>
        <p:spPr>
          <a:xfrm>
            <a:off x="5557838" y="4192750"/>
            <a:ext cx="1581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Automatique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4365824-32F1-D609-76EA-7106862F1735}"/>
              </a:ext>
            </a:extLst>
          </p:cNvPr>
          <p:cNvSpPr txBox="1"/>
          <p:nvPr/>
        </p:nvSpPr>
        <p:spPr>
          <a:xfrm>
            <a:off x="7674768" y="4192750"/>
            <a:ext cx="1581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Automatique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16E9840-2CF4-37A0-1DB7-68C3E1818033}"/>
              </a:ext>
            </a:extLst>
          </p:cNvPr>
          <p:cNvSpPr txBox="1"/>
          <p:nvPr/>
        </p:nvSpPr>
        <p:spPr>
          <a:xfrm>
            <a:off x="9705975" y="4192750"/>
            <a:ext cx="2066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Doit être appelé !</a:t>
            </a:r>
            <a:endParaRPr lang="fr-FR" b="1" dirty="0">
              <a:solidFill>
                <a:srgbClr val="FF0000"/>
              </a:solidFill>
            </a:endParaRP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37FEC379-9B3E-AAC6-7F4F-F4D25EABFE90}"/>
              </a:ext>
            </a:extLst>
          </p:cNvPr>
          <p:cNvCxnSpPr>
            <a:cxnSpLocks/>
          </p:cNvCxnSpPr>
          <p:nvPr/>
        </p:nvCxnSpPr>
        <p:spPr>
          <a:xfrm>
            <a:off x="10756281" y="4752068"/>
            <a:ext cx="0" cy="6543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6CF44FF9-4085-E677-43EA-A14EE4040B35}"/>
              </a:ext>
            </a:extLst>
          </p:cNvPr>
          <p:cNvSpPr txBox="1"/>
          <p:nvPr/>
        </p:nvSpPr>
        <p:spPr>
          <a:xfrm>
            <a:off x="9501185" y="5505613"/>
            <a:ext cx="2476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Comment ????</a:t>
            </a:r>
          </a:p>
        </p:txBody>
      </p:sp>
    </p:spTree>
    <p:extLst>
      <p:ext uri="{BB962C8B-B14F-4D97-AF65-F5344CB8AC3E}">
        <p14:creationId xmlns:p14="http://schemas.microsoft.com/office/powerpoint/2010/main" val="114385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  <p:bldP spid="37" grpId="0"/>
      <p:bldP spid="39" grpId="0"/>
      <p:bldP spid="42" grpId="0"/>
      <p:bldP spid="45" grpId="0"/>
      <p:bldP spid="46" grpId="0"/>
      <p:bldP spid="47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9238A12-5129-D037-8DC7-55A3586FA636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5336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2D2952C-3362-0D68-A62D-495AA1B07A15}"/>
              </a:ext>
            </a:extLst>
          </p:cNvPr>
          <p:cNvSpPr txBox="1"/>
          <p:nvPr/>
        </p:nvSpPr>
        <p:spPr>
          <a:xfrm>
            <a:off x="0" y="728181"/>
            <a:ext cx="2533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Communication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16A320F3-1CC1-33F0-2D04-059640E061D9}"/>
              </a:ext>
            </a:extLst>
          </p:cNvPr>
          <p:cNvGrpSpPr/>
          <p:nvPr/>
        </p:nvGrpSpPr>
        <p:grpSpPr>
          <a:xfrm>
            <a:off x="6734175" y="512750"/>
            <a:ext cx="5354239" cy="5240351"/>
            <a:chOff x="6734175" y="512750"/>
            <a:chExt cx="5354239" cy="524035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EAED72B-1D31-8D55-82F2-56087507B6AA}"/>
                </a:ext>
              </a:extLst>
            </p:cNvPr>
            <p:cNvSpPr/>
            <p:nvPr/>
          </p:nvSpPr>
          <p:spPr>
            <a:xfrm>
              <a:off x="6734175" y="512750"/>
              <a:ext cx="5354239" cy="5240351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2F4D8F87-6E28-321B-18F2-A899BDC37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2837" y="1432686"/>
              <a:ext cx="3533775" cy="628650"/>
            </a:xfrm>
            <a:prstGeom prst="rect">
              <a:avLst/>
            </a:prstGeom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C1FA8632-597B-0BAA-FF9D-11E49B03E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43713" y="3752850"/>
              <a:ext cx="5067300" cy="1847850"/>
            </a:xfrm>
            <a:prstGeom prst="rect">
              <a:avLst/>
            </a:prstGeom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B3ED390C-97CC-5DA1-FE54-3E675CA9038C}"/>
                </a:ext>
              </a:extLst>
            </p:cNvPr>
            <p:cNvSpPr txBox="1"/>
            <p:nvPr/>
          </p:nvSpPr>
          <p:spPr>
            <a:xfrm>
              <a:off x="8624887" y="4854059"/>
              <a:ext cx="23717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dirty="0">
                  <a:solidFill>
                    <a:srgbClr val="13162A"/>
                  </a:solidFill>
                  <a:latin typeface="Avenir Next LT Pro Demi" panose="020B0704020202020204" pitchFamily="34" charset="0"/>
                  <a:cs typeface="Times New Roman" panose="02020603050405020304" pitchFamily="18" charset="0"/>
                </a:rPr>
                <a:t>Read FIFO (Queue)</a:t>
              </a:r>
              <a:endParaRPr lang="fr-FR" dirty="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6E1E5D51-F01A-A6A3-D146-856ECCCFDF12}"/>
                </a:ext>
              </a:extLst>
            </p:cNvPr>
            <p:cNvSpPr txBox="1"/>
            <p:nvPr/>
          </p:nvSpPr>
          <p:spPr>
            <a:xfrm>
              <a:off x="8365925" y="2479566"/>
              <a:ext cx="23717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dirty="0">
                  <a:solidFill>
                    <a:srgbClr val="13162A"/>
                  </a:solidFill>
                  <a:latin typeface="Avenir Next LT Pro Demi" panose="020B0704020202020204" pitchFamily="34" charset="0"/>
                  <a:cs typeface="Times New Roman" panose="02020603050405020304" pitchFamily="18" charset="0"/>
                </a:rPr>
                <a:t>Write FIFO (Queue)</a:t>
              </a:r>
              <a:endParaRPr lang="fr-FR" dirty="0"/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B5230816-B3BB-4CCA-BC66-3FEA52C589FA}"/>
                </a:ext>
              </a:extLst>
            </p:cNvPr>
            <p:cNvSpPr txBox="1"/>
            <p:nvPr/>
          </p:nvSpPr>
          <p:spPr>
            <a:xfrm>
              <a:off x="8365925" y="603386"/>
              <a:ext cx="2090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dirty="0">
                  <a:solidFill>
                    <a:srgbClr val="13162A"/>
                  </a:solidFill>
                  <a:latin typeface="Avenir Next LT Pro Demi" panose="020B0704020202020204" pitchFamily="34" charset="0"/>
                  <a:cs typeface="Times New Roman" panose="02020603050405020304" pitchFamily="18" charset="0"/>
                </a:rPr>
                <a:t>QMH Framework</a:t>
              </a:r>
              <a:endParaRPr lang="fr-FR" dirty="0"/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A59342A8-77B5-1DE2-36AC-57961A4C24C8}"/>
              </a:ext>
            </a:extLst>
          </p:cNvPr>
          <p:cNvGrpSpPr/>
          <p:nvPr/>
        </p:nvGrpSpPr>
        <p:grpSpPr>
          <a:xfrm>
            <a:off x="4238226" y="554786"/>
            <a:ext cx="4331892" cy="5507117"/>
            <a:chOff x="3130945" y="788052"/>
            <a:chExt cx="4331892" cy="5507117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7C7013FD-6BB1-7A11-FB02-9DFE055572BE}"/>
                </a:ext>
              </a:extLst>
            </p:cNvPr>
            <p:cNvSpPr txBox="1"/>
            <p:nvPr/>
          </p:nvSpPr>
          <p:spPr>
            <a:xfrm>
              <a:off x="3588544" y="788052"/>
              <a:ext cx="2090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dirty="0">
                  <a:solidFill>
                    <a:srgbClr val="13162A"/>
                  </a:solidFill>
                  <a:latin typeface="Avenir Next LT Pro Demi" panose="020B0704020202020204" pitchFamily="34" charset="0"/>
                  <a:cs typeface="Times New Roman" panose="02020603050405020304" pitchFamily="18" charset="0"/>
                </a:rPr>
                <a:t>Actor Framework</a:t>
              </a:r>
              <a:endParaRPr lang="fr-FR" dirty="0"/>
            </a:p>
          </p:txBody>
        </p:sp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24519062-FBF4-E2C8-3374-DBDED6E8D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0945" y="1216631"/>
              <a:ext cx="4331892" cy="5078538"/>
            </a:xfrm>
            <a:prstGeom prst="rect">
              <a:avLst/>
            </a:prstGeom>
          </p:spPr>
        </p:pic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68B7DBB3-3B95-F598-866E-A89D578E3FFC}"/>
              </a:ext>
            </a:extLst>
          </p:cNvPr>
          <p:cNvSpPr txBox="1"/>
          <p:nvPr/>
        </p:nvSpPr>
        <p:spPr>
          <a:xfrm>
            <a:off x="10528042" y="4498749"/>
            <a:ext cx="1560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États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#Fonctions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Méthodes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#Messages</a:t>
            </a:r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AD9781B2-14B7-CC1E-4616-948587A6E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0080" y="3221642"/>
            <a:ext cx="41624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3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9238A12-5129-D037-8DC7-55A3586FA636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555058" cy="13628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2D2952C-3362-0D68-A62D-495AA1B07A15}"/>
              </a:ext>
            </a:extLst>
          </p:cNvPr>
          <p:cNvSpPr txBox="1"/>
          <p:nvPr/>
        </p:nvSpPr>
        <p:spPr>
          <a:xfrm>
            <a:off x="0" y="741809"/>
            <a:ext cx="2555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LabVIEW Palette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CA441C-97EA-C54F-DC39-D7FF5DC92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767" y="741809"/>
            <a:ext cx="46958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1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9238A12-5129-D037-8DC7-55A3586FA636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1838325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2D2952C-3362-0D68-A62D-495AA1B07A15}"/>
              </a:ext>
            </a:extLst>
          </p:cNvPr>
          <p:cNvSpPr txBox="1"/>
          <p:nvPr/>
        </p:nvSpPr>
        <p:spPr>
          <a:xfrm>
            <a:off x="0" y="741809"/>
            <a:ext cx="1916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Application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CDBD85-5DFA-AF61-A469-3FA2E761E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972641"/>
            <a:ext cx="5715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1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58A52A-A591-43EE-A87F-FF5B31CEFEA6}"/>
              </a:ext>
            </a:extLst>
          </p:cNvPr>
          <p:cNvSpPr/>
          <p:nvPr/>
        </p:nvSpPr>
        <p:spPr>
          <a:xfrm>
            <a:off x="2811710" y="485942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GRAPHICAL DEEP LEARNING LANGUAGE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79427C-6B46-B172-DD00-C05EEF29D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683" y="2746125"/>
            <a:ext cx="3246058" cy="20786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C9D8E6-1EA9-F9A3-0231-0A0F7B421A09}"/>
              </a:ext>
            </a:extLst>
          </p:cNvPr>
          <p:cNvSpPr/>
          <p:nvPr/>
        </p:nvSpPr>
        <p:spPr>
          <a:xfrm>
            <a:off x="-439024" y="311131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MERCI POUR VOTRE ATTENTION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D3A9DA-022C-BB51-717B-771F899B8B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85"/>
          <a:stretch/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6ABB82-597B-80B8-BAC9-0DF6A55ABB8C}"/>
              </a:ext>
            </a:extLst>
          </p:cNvPr>
          <p:cNvSpPr/>
          <p:nvPr/>
        </p:nvSpPr>
        <p:spPr>
          <a:xfrm>
            <a:off x="8192199" y="4127381"/>
            <a:ext cx="3498209" cy="117804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44D5E2-CF4B-49E8-6B6F-98ADE6EE4056}"/>
              </a:ext>
            </a:extLst>
          </p:cNvPr>
          <p:cNvSpPr txBox="1"/>
          <p:nvPr/>
        </p:nvSpPr>
        <p:spPr>
          <a:xfrm>
            <a:off x="8296712" y="4383508"/>
            <a:ext cx="3185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: Youssef Menjour</a:t>
            </a:r>
            <a:br>
              <a:rPr lang="fr-FR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y.menjour@technologies-france.com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990C9-823F-6FE4-8927-74FA277BCF84}"/>
              </a:ext>
            </a:extLst>
          </p:cNvPr>
          <p:cNvSpPr/>
          <p:nvPr/>
        </p:nvSpPr>
        <p:spPr>
          <a:xfrm>
            <a:off x="8192197" y="5331546"/>
            <a:ext cx="3498209" cy="152645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F6D51D-6649-9730-2B18-763E1B70A8E3}"/>
              </a:ext>
            </a:extLst>
          </p:cNvPr>
          <p:cNvSpPr txBox="1"/>
          <p:nvPr/>
        </p:nvSpPr>
        <p:spPr>
          <a:xfrm>
            <a:off x="8400692" y="5756219"/>
            <a:ext cx="30812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us Graiphic &amp; HAIBAL :</a:t>
            </a: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www.technologies-france.com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 + </a:t>
            </a:r>
            <a:r>
              <a:rPr lang="fr-FR" sz="1200" dirty="0" err="1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2628E-BA1C-77B1-1F08-01C36E1F9A1B}"/>
              </a:ext>
            </a:extLst>
          </p:cNvPr>
          <p:cNvSpPr/>
          <p:nvPr/>
        </p:nvSpPr>
        <p:spPr>
          <a:xfrm>
            <a:off x="8192195" y="1354347"/>
            <a:ext cx="3498209" cy="274305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47C42-BFD8-072C-AAAE-B8B6B3B2C5B3}"/>
              </a:ext>
            </a:extLst>
          </p:cNvPr>
          <p:cNvSpPr/>
          <p:nvPr/>
        </p:nvSpPr>
        <p:spPr>
          <a:xfrm>
            <a:off x="8192195" y="-2186"/>
            <a:ext cx="3498209" cy="132654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F14EFDA-EB26-C8DB-AB52-1A995EDE7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92" y="153929"/>
            <a:ext cx="2636927" cy="8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9238A12-5129-D037-8DC7-55A3586FA636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856411" cy="13628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2D2952C-3362-0D68-A62D-495AA1B07A15}"/>
              </a:ext>
            </a:extLst>
          </p:cNvPr>
          <p:cNvSpPr txBox="1"/>
          <p:nvPr/>
        </p:nvSpPr>
        <p:spPr>
          <a:xfrm>
            <a:off x="140517" y="741809"/>
            <a:ext cx="2715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 Framework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A289A3C-AB01-1691-8328-A97781B86C7F}"/>
              </a:ext>
            </a:extLst>
          </p:cNvPr>
          <p:cNvSpPr/>
          <p:nvPr/>
        </p:nvSpPr>
        <p:spPr>
          <a:xfrm>
            <a:off x="-779418" y="2826017"/>
            <a:ext cx="1558836" cy="12059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Actor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0CFB2F0-7762-BBCD-82A0-01C4DA3A3028}"/>
              </a:ext>
            </a:extLst>
          </p:cNvPr>
          <p:cNvSpPr/>
          <p:nvPr/>
        </p:nvSpPr>
        <p:spPr>
          <a:xfrm>
            <a:off x="-827020" y="4954314"/>
            <a:ext cx="1654039" cy="14086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Actor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91D1C91-2D02-14ED-5AC7-1D3C0FD57224}"/>
              </a:ext>
            </a:extLst>
          </p:cNvPr>
          <p:cNvCxnSpPr>
            <a:cxnSpLocks/>
          </p:cNvCxnSpPr>
          <p:nvPr/>
        </p:nvCxnSpPr>
        <p:spPr>
          <a:xfrm>
            <a:off x="0" y="4291763"/>
            <a:ext cx="0" cy="460305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1F772896-7B7D-7E1C-B841-F252EC97C2A7}"/>
              </a:ext>
            </a:extLst>
          </p:cNvPr>
          <p:cNvGrpSpPr/>
          <p:nvPr/>
        </p:nvGrpSpPr>
        <p:grpSpPr>
          <a:xfrm>
            <a:off x="-584792" y="5160600"/>
            <a:ext cx="1169583" cy="996039"/>
            <a:chOff x="-2530862" y="5160600"/>
            <a:chExt cx="1169583" cy="996039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25E13310-89F6-4588-E622-FCEC9CAA8A66}"/>
                </a:ext>
              </a:extLst>
            </p:cNvPr>
            <p:cNvCxnSpPr>
              <a:cxnSpLocks/>
              <a:stCxn id="10" idx="1"/>
              <a:endCxn id="10" idx="5"/>
            </p:cNvCxnSpPr>
            <p:nvPr/>
          </p:nvCxnSpPr>
          <p:spPr>
            <a:xfrm>
              <a:off x="-2530862" y="5160600"/>
              <a:ext cx="1169583" cy="996039"/>
            </a:xfrm>
            <a:prstGeom prst="line">
              <a:avLst/>
            </a:prstGeom>
            <a:ln w="57150">
              <a:solidFill>
                <a:srgbClr val="C5161B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7E6E6233-92E3-0C21-BAC2-A812BFD5645F}"/>
                </a:ext>
              </a:extLst>
            </p:cNvPr>
            <p:cNvCxnSpPr>
              <a:cxnSpLocks/>
              <a:stCxn id="10" idx="3"/>
              <a:endCxn id="10" idx="7"/>
            </p:cNvCxnSpPr>
            <p:nvPr/>
          </p:nvCxnSpPr>
          <p:spPr>
            <a:xfrm flipV="1">
              <a:off x="-2530862" y="5160600"/>
              <a:ext cx="1169583" cy="996039"/>
            </a:xfrm>
            <a:prstGeom prst="line">
              <a:avLst/>
            </a:prstGeom>
            <a:ln w="57150">
              <a:solidFill>
                <a:srgbClr val="C5161B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1EC4F42-E3B8-E22E-B585-268063A91565}"/>
              </a:ext>
            </a:extLst>
          </p:cNvPr>
          <p:cNvCxnSpPr>
            <a:cxnSpLocks/>
          </p:cNvCxnSpPr>
          <p:nvPr/>
        </p:nvCxnSpPr>
        <p:spPr>
          <a:xfrm flipV="1">
            <a:off x="245446" y="4291763"/>
            <a:ext cx="0" cy="4603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CABCAA7C-DD4A-F104-3182-10D245F58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5358" y="1635059"/>
            <a:ext cx="2571750" cy="80010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E8373CBE-9B61-40E4-29A1-DBEF8F36E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543" y="812949"/>
            <a:ext cx="30289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7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70960</TotalTime>
  <Words>451</Words>
  <Application>Microsoft Office PowerPoint</Application>
  <PresentationFormat>Grand écran</PresentationFormat>
  <Paragraphs>70</Paragraphs>
  <Slides>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Arial</vt:lpstr>
      <vt:lpstr>Avenir Next LT Pro</vt:lpstr>
      <vt:lpstr>Avenir Next LT Pro Demi</vt:lpstr>
      <vt:lpstr>Calibri</vt:lpstr>
      <vt:lpstr>Calibri Light</vt:lpstr>
      <vt:lpstr>Open Sans</vt:lpstr>
      <vt:lpstr>Söhne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Aloïs Lien</dc:creator>
  <cp:lastModifiedBy>Youssef Menjour</cp:lastModifiedBy>
  <cp:revision>627</cp:revision>
  <cp:lastPrinted>2019-09-05T08:42:36Z</cp:lastPrinted>
  <dcterms:created xsi:type="dcterms:W3CDTF">2019-05-22T16:03:13Z</dcterms:created>
  <dcterms:modified xsi:type="dcterms:W3CDTF">2023-11-09T16:55:55Z</dcterms:modified>
</cp:coreProperties>
</file>
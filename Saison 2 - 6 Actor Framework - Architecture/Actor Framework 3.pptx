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337" r:id="rId2"/>
    <p:sldId id="444" r:id="rId3"/>
    <p:sldId id="434" r:id="rId4"/>
    <p:sldId id="443" r:id="rId5"/>
    <p:sldId id="440" r:id="rId6"/>
    <p:sldId id="445" r:id="rId7"/>
    <p:sldId id="391" r:id="rId8"/>
    <p:sldId id="446" r:id="rId9"/>
    <p:sldId id="44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B68700"/>
    <a:srgbClr val="FFC000"/>
    <a:srgbClr val="FFFFFF"/>
    <a:srgbClr val="000000"/>
    <a:srgbClr val="C5161B"/>
    <a:srgbClr val="4776CC"/>
    <a:srgbClr val="FFDA1C"/>
    <a:srgbClr val="303030"/>
    <a:srgbClr val="131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786" autoAdjust="0"/>
  </p:normalViewPr>
  <p:slideViewPr>
    <p:cSldViewPr snapToGrid="0">
      <p:cViewPr varScale="1">
        <p:scale>
          <a:sx n="93" d="100"/>
          <a:sy n="93" d="100"/>
        </p:scale>
        <p:origin x="127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2601A92-4F22-6D7F-6C2D-01EEBEE984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5481A6-8230-E2F3-EE68-FBB89C30D2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C0614-433A-4636-8147-8DA2A0094A27}" type="datetimeFigureOut">
              <a:rPr lang="fr-FR" smtClean="0"/>
              <a:t>18/11/2023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F133A1B-8FF4-46A5-F8DD-BF4D982C72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EE9414-3220-507D-CA3F-3B9DDF89B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8FCA5-1245-41E9-9706-A344A4889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36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7D3A4-DA68-4781-A320-4187DDEB23D2}" type="datetimeFigureOut">
              <a:rPr lang="fr-FR" smtClean="0"/>
              <a:t>18/11/2023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F4ED9-BFD2-46DB-930A-08E21053BA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9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va faire un petit </a:t>
            </a:r>
            <a:r>
              <a:rPr lang="fr-FR" b="1" dirty="0"/>
              <a:t>rangement</a:t>
            </a:r>
            <a:r>
              <a:rPr lang="fr-FR" dirty="0"/>
              <a:t> dans l’ensemble des </a:t>
            </a:r>
            <a:r>
              <a:rPr lang="fr-FR" b="1" dirty="0"/>
              <a:t>notions</a:t>
            </a:r>
            <a:r>
              <a:rPr lang="fr-FR" dirty="0"/>
              <a:t> qu’on a vu. Maintenant qu’on a pu </a:t>
            </a:r>
            <a:r>
              <a:rPr lang="fr-FR" b="1" dirty="0"/>
              <a:t>débroussailler</a:t>
            </a:r>
            <a:r>
              <a:rPr lang="fr-FR" dirty="0"/>
              <a:t> et utiliser </a:t>
            </a:r>
            <a:r>
              <a:rPr lang="fr-FR" b="1" dirty="0" err="1"/>
              <a:t>grossierement</a:t>
            </a:r>
            <a:r>
              <a:rPr lang="fr-FR" dirty="0"/>
              <a:t> l’</a:t>
            </a:r>
            <a:r>
              <a:rPr lang="fr-FR" dirty="0" err="1"/>
              <a:t>actor</a:t>
            </a:r>
            <a:r>
              <a:rPr lang="fr-FR" dirty="0"/>
              <a:t>. On va regarder l’architecture de l’</a:t>
            </a:r>
            <a:r>
              <a:rPr lang="fr-FR" dirty="0" err="1"/>
              <a:t>actor</a:t>
            </a:r>
            <a:r>
              <a:rPr lang="fr-FR" dirty="0"/>
              <a:t> </a:t>
            </a:r>
            <a:r>
              <a:rPr lang="fr-FR" dirty="0" err="1"/>
              <a:t>framework</a:t>
            </a:r>
            <a:r>
              <a:rPr lang="fr-FR" dirty="0"/>
              <a:t>. Le </a:t>
            </a:r>
            <a:r>
              <a:rPr lang="fr-FR" dirty="0" err="1"/>
              <a:t>mecanisme</a:t>
            </a:r>
            <a:r>
              <a:rPr lang="fr-FR" dirty="0"/>
              <a:t> de message, quand il est nécessaire de l’utiliser et quand ce n’est pas la peine. On va regarder ce qui se passe dans </a:t>
            </a:r>
            <a:r>
              <a:rPr lang="fr-FR" b="1" dirty="0"/>
              <a:t>l’</a:t>
            </a:r>
            <a:r>
              <a:rPr lang="fr-FR" b="1" dirty="0" err="1"/>
              <a:t>actor</a:t>
            </a:r>
            <a:r>
              <a:rPr lang="fr-FR" b="1" dirty="0"/>
              <a:t> </a:t>
            </a:r>
            <a:r>
              <a:rPr lang="fr-FR" b="1" dirty="0" err="1"/>
              <a:t>core</a:t>
            </a:r>
            <a:r>
              <a:rPr lang="fr-FR" b="1" dirty="0"/>
              <a:t> </a:t>
            </a:r>
            <a:r>
              <a:rPr lang="fr-FR" dirty="0"/>
              <a:t>pour mieux comprendre la </a:t>
            </a:r>
            <a:r>
              <a:rPr lang="fr-FR" b="1" dirty="0"/>
              <a:t>gestion des messages </a:t>
            </a:r>
            <a:r>
              <a:rPr lang="fr-FR" dirty="0"/>
              <a:t>et la </a:t>
            </a:r>
            <a:r>
              <a:rPr lang="fr-FR" b="1" dirty="0"/>
              <a:t>gestion des erreurs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84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/>
              <a:t>Petit rappel de ce qu’on avait vu précédemment</a:t>
            </a:r>
            <a:br>
              <a:rPr lang="fr-FR" b="0" dirty="0"/>
            </a:br>
            <a:endParaRPr lang="fr-FR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/>
              <a:t>On se rappel également de la famille de mot, on va y mettre un peu plus d’ordre et de précision,</a:t>
            </a:r>
            <a:endParaRPr lang="fr-FR" b="1" dirty="0"/>
          </a:p>
          <a:p>
            <a:br>
              <a:rPr lang="fr-FR" b="0" dirty="0"/>
            </a:br>
            <a:r>
              <a:rPr lang="fr-FR" b="0" dirty="0"/>
              <a:t>Un </a:t>
            </a:r>
            <a:r>
              <a:rPr lang="fr-FR" b="1" dirty="0" err="1"/>
              <a:t>actor</a:t>
            </a:r>
            <a:r>
              <a:rPr lang="fr-FR" b="0" dirty="0"/>
              <a:t> est un objet hérité d’un </a:t>
            </a:r>
            <a:r>
              <a:rPr lang="fr-FR" b="1" dirty="0"/>
              <a:t>d’objet NI</a:t>
            </a:r>
            <a:r>
              <a:rPr lang="fr-FR" b="0" dirty="0"/>
              <a:t>, on va hérité de </a:t>
            </a:r>
            <a:r>
              <a:rPr lang="fr-FR" b="1" dirty="0"/>
              <a:t>méthode de base</a:t>
            </a:r>
            <a:r>
              <a:rPr lang="fr-FR" b="0" dirty="0"/>
              <a:t> que l’on va appeler forme canonique de notre </a:t>
            </a:r>
            <a:r>
              <a:rPr lang="fr-FR" b="1" dirty="0" err="1"/>
              <a:t>actor</a:t>
            </a:r>
            <a:r>
              <a:rPr lang="fr-FR" b="1" dirty="0"/>
              <a:t> machine d’état</a:t>
            </a:r>
            <a:r>
              <a:rPr lang="fr-FR" b="0" dirty="0"/>
              <a:t>,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/>
              <a:t>On parle bien d’une machine d’état, on va donc rappeler comment on </a:t>
            </a:r>
            <a:r>
              <a:rPr lang="fr-FR" b="1" dirty="0"/>
              <a:t>crée</a:t>
            </a:r>
            <a:r>
              <a:rPr lang="fr-FR" b="0" dirty="0"/>
              <a:t> l’état, comment on </a:t>
            </a:r>
            <a:r>
              <a:rPr lang="fr-FR" b="1" dirty="0" err="1"/>
              <a:t>enqueu</a:t>
            </a:r>
            <a:r>
              <a:rPr lang="fr-FR" b="0" dirty="0"/>
              <a:t> dans la FIFO celui-ci et comment cet état </a:t>
            </a:r>
            <a:r>
              <a:rPr lang="fr-FR" b="1" dirty="0"/>
              <a:t>une fois envoyé s’</a:t>
            </a:r>
            <a:r>
              <a:rPr lang="fr-FR" b="1" dirty="0" err="1"/>
              <a:t>execute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52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dirty="0"/>
              <a:t>Comment marche l’architecture ?</a:t>
            </a:r>
          </a:p>
          <a:p>
            <a:endParaRPr lang="fr-FR" b="0" dirty="0"/>
          </a:p>
          <a:p>
            <a:r>
              <a:rPr lang="fr-FR" b="0" dirty="0"/>
              <a:t>Consommateur de quoi ? C’est un consommateur des message objet qui sont un </a:t>
            </a:r>
            <a:r>
              <a:rPr lang="fr-FR" b="0" dirty="0" err="1"/>
              <a:t>scipting</a:t>
            </a:r>
            <a:r>
              <a:rPr lang="fr-FR" b="0" dirty="0"/>
              <a:t> permettant l’</a:t>
            </a:r>
            <a:r>
              <a:rPr lang="fr-FR" b="0" dirty="0" err="1"/>
              <a:t>execution</a:t>
            </a:r>
            <a:r>
              <a:rPr lang="fr-FR" b="0" dirty="0"/>
              <a:t> des méthode via une FIFO (une queue)</a:t>
            </a:r>
          </a:p>
          <a:p>
            <a:r>
              <a:rPr lang="fr-FR" b="0" dirty="0"/>
              <a:t>Après avoir généré un message de la méthode, C’est le DO généré</a:t>
            </a:r>
          </a:p>
          <a:p>
            <a:endParaRPr lang="fr-FR" b="0" dirty="0"/>
          </a:p>
          <a:p>
            <a:r>
              <a:rPr lang="fr-FR" b="0" dirty="0"/>
              <a:t>Bien évidemment dans une méthode on peu lancer d’autre méthode, le fonctionnement est objet classique, on est pas obligé de passer par la Queue pour lancer une méthode à partir d’une méthode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783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srgbClr val="374151"/>
                </a:solidFill>
                <a:latin typeface="Söhne"/>
              </a:rPr>
              <a:t>On peut voir le mécanisme de message comme illustré ici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15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472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14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49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DA557-6629-4082-8F8A-175FD7D9A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F4500-D31D-4FE6-A267-65867307D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9453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7356EA-1477-46BE-B6FD-5DFDC9A93666}"/>
              </a:ext>
            </a:extLst>
          </p:cNvPr>
          <p:cNvSpPr/>
          <p:nvPr userDrawn="1"/>
        </p:nvSpPr>
        <p:spPr>
          <a:xfrm>
            <a:off x="0" y="6472406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FE5498C-86E0-4D1D-96FB-13E77ECDEB71}"/>
              </a:ext>
            </a:extLst>
          </p:cNvPr>
          <p:cNvSpPr txBox="1"/>
          <p:nvPr userDrawn="1"/>
        </p:nvSpPr>
        <p:spPr>
          <a:xfrm>
            <a:off x="8395855" y="6528170"/>
            <a:ext cx="3629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y.menjour@technologies-france.com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824A00-C672-4E54-8C91-9BAC4E36143B}"/>
              </a:ext>
            </a:extLst>
          </p:cNvPr>
          <p:cNvSpPr/>
          <p:nvPr userDrawn="1"/>
        </p:nvSpPr>
        <p:spPr>
          <a:xfrm>
            <a:off x="0" y="-2064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907A1E0-EC1B-456A-9113-122FCEC8D05A}"/>
              </a:ext>
            </a:extLst>
          </p:cNvPr>
          <p:cNvSpPr txBox="1"/>
          <p:nvPr userDrawn="1"/>
        </p:nvSpPr>
        <p:spPr>
          <a:xfrm>
            <a:off x="0" y="52831"/>
            <a:ext cx="3042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Actor Framework - Architecture</a:t>
            </a:r>
            <a:endParaRPr lang="fr-F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33D293-7536-4199-B9E3-84BBA80E2AF3}"/>
              </a:ext>
            </a:extLst>
          </p:cNvPr>
          <p:cNvSpPr txBox="1"/>
          <p:nvPr userDrawn="1"/>
        </p:nvSpPr>
        <p:spPr>
          <a:xfrm>
            <a:off x="5820019" y="6526703"/>
            <a:ext cx="551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229B192-6592-499F-9C65-752160CB852F}" type="slidenum">
              <a:rPr lang="fr-FR" sz="12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‹N°›</a:t>
            </a:fld>
            <a:endParaRPr lang="fr-FR" sz="1200" kern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FEC667-FC3F-4958-8A9E-6CC0F5FFC06A}"/>
              </a:ext>
            </a:extLst>
          </p:cNvPr>
          <p:cNvSpPr txBox="1"/>
          <p:nvPr userDrawn="1"/>
        </p:nvSpPr>
        <p:spPr>
          <a:xfrm>
            <a:off x="9790177" y="52233"/>
            <a:ext cx="2401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www.technologies-france.com</a:t>
            </a:r>
          </a:p>
        </p:txBody>
      </p:sp>
    </p:spTree>
    <p:extLst>
      <p:ext uri="{BB962C8B-B14F-4D97-AF65-F5344CB8AC3E}">
        <p14:creationId xmlns:p14="http://schemas.microsoft.com/office/powerpoint/2010/main" val="147983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hyperlink" Target="http://www.technologies-france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6C43977-35D7-979E-A836-9003D882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2192B13-00E5-0D0C-4A18-7BC9F18D7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266" y="1806087"/>
            <a:ext cx="2579664" cy="310434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651DF6F-CFF7-E5AE-5E35-48058BA215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026" y="324272"/>
            <a:ext cx="877014" cy="88587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C6D9E0F-CF27-FB3C-A3C3-D712C0D4C57D}"/>
              </a:ext>
            </a:extLst>
          </p:cNvPr>
          <p:cNvSpPr txBox="1"/>
          <p:nvPr/>
        </p:nvSpPr>
        <p:spPr>
          <a:xfrm>
            <a:off x="4061661" y="484086"/>
            <a:ext cx="4488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 Framework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0B73C00-C179-7178-3EC8-E4E24D39B2B4}"/>
              </a:ext>
            </a:extLst>
          </p:cNvPr>
          <p:cNvSpPr txBox="1"/>
          <p:nvPr/>
        </p:nvSpPr>
        <p:spPr>
          <a:xfrm>
            <a:off x="4695441" y="5462988"/>
            <a:ext cx="3221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fr-FR" dirty="0"/>
          </a:p>
        </p:txBody>
      </p:sp>
      <p:pic>
        <p:nvPicPr>
          <p:cNvPr id="30" name="Image 29" descr="Une image contenant texte&#10;&#10;Description générée automatiquement">
            <a:extLst>
              <a:ext uri="{FF2B5EF4-FFF2-40B4-BE49-F238E27FC236}">
                <a16:creationId xmlns:a16="http://schemas.microsoft.com/office/drawing/2014/main" id="{52F91B36-9EE6-7B62-E5DD-22C9CCECF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57" y="5149334"/>
            <a:ext cx="1189318" cy="11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12763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E9E617C-6F60-5C7D-1A80-F823496C0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234" y="1065469"/>
            <a:ext cx="4029075" cy="4371975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1F03721F-8BA3-1D27-C1D7-2C2A9D941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431" y="1281568"/>
            <a:ext cx="713214" cy="713214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7F585343-5FC2-DD69-0D1A-FFA0584E2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431" y="3251457"/>
            <a:ext cx="654005" cy="654005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7F46591B-8723-654C-7800-93841DD46461}"/>
              </a:ext>
            </a:extLst>
          </p:cNvPr>
          <p:cNvCxnSpPr>
            <a:cxnSpLocks/>
          </p:cNvCxnSpPr>
          <p:nvPr/>
        </p:nvCxnSpPr>
        <p:spPr>
          <a:xfrm>
            <a:off x="10733433" y="2114550"/>
            <a:ext cx="0" cy="88170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EAEE0C1-B2B0-DD53-6BDC-6C7B20807C74}"/>
              </a:ext>
            </a:extLst>
          </p:cNvPr>
          <p:cNvSpPr txBox="1"/>
          <p:nvPr/>
        </p:nvSpPr>
        <p:spPr>
          <a:xfrm>
            <a:off x="10263603" y="391461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330B565-2914-846E-81BD-2122111D3AFE}"/>
              </a:ext>
            </a:extLst>
          </p:cNvPr>
          <p:cNvSpPr txBox="1"/>
          <p:nvPr/>
        </p:nvSpPr>
        <p:spPr>
          <a:xfrm>
            <a:off x="10096294" y="692303"/>
            <a:ext cx="1442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Objet</a:t>
            </a:r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 NI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4B93A88-EB01-0F4A-1A3B-4F876E585F4F}"/>
              </a:ext>
            </a:extLst>
          </p:cNvPr>
          <p:cNvSpPr txBox="1"/>
          <p:nvPr/>
        </p:nvSpPr>
        <p:spPr>
          <a:xfrm>
            <a:off x="10219445" y="4623528"/>
            <a:ext cx="1560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États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#Fonctions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#Méthodes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#Messages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D7D97D3-F903-896C-FD63-1464313B1960}"/>
              </a:ext>
            </a:extLst>
          </p:cNvPr>
          <p:cNvSpPr txBox="1"/>
          <p:nvPr/>
        </p:nvSpPr>
        <p:spPr>
          <a:xfrm>
            <a:off x="3782794" y="1696381"/>
            <a:ext cx="2144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Forme Canonique</a:t>
            </a:r>
          </a:p>
          <a:p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 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Error.vi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 Launch Init.vi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Core.vi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Substitute Actor.vi</a:t>
            </a:r>
            <a:endParaRPr lang="fr-FR" sz="1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10958E7-626F-376E-7901-E80C74DB8CBE}"/>
              </a:ext>
            </a:extLst>
          </p:cNvPr>
          <p:cNvSpPr txBox="1"/>
          <p:nvPr/>
        </p:nvSpPr>
        <p:spPr>
          <a:xfrm>
            <a:off x="3782794" y="1696381"/>
            <a:ext cx="2144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Forme Canonique</a:t>
            </a:r>
          </a:p>
          <a:p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ore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  <a:b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b="1" i="0" dirty="0" err="1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Error</a:t>
            </a:r>
            <a:r>
              <a:rPr lang="fr-FR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Last </a:t>
            </a:r>
            <a:r>
              <a:rPr lang="fr-FR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Core.vi</a:t>
            </a:r>
          </a:p>
          <a:p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 Launch Init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Core</a:t>
            </a:r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.vi</a:t>
            </a:r>
          </a:p>
          <a:p>
            <a:r>
              <a:rPr lang="fr-FR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Substitute Actor.vi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9854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" grpId="0"/>
      <p:bldP spid="3" grpId="0"/>
      <p:bldP spid="3" grpId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9E31902E-5BD7-66B3-6B48-88A110558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51" y="562276"/>
            <a:ext cx="3705225" cy="41624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2BA561A-99DA-85BC-C07A-266BA317A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611" y="500214"/>
            <a:ext cx="5886450" cy="5962650"/>
          </a:xfrm>
          <a:prstGeom prst="rect">
            <a:avLst/>
          </a:prstGeom>
        </p:spPr>
      </p:pic>
      <p:grpSp>
        <p:nvGrpSpPr>
          <p:cNvPr id="39" name="Groupe 38">
            <a:extLst>
              <a:ext uri="{FF2B5EF4-FFF2-40B4-BE49-F238E27FC236}">
                <a16:creationId xmlns:a16="http://schemas.microsoft.com/office/drawing/2014/main" id="{1EF3F23B-8697-8E42-1118-DA360AC2C14F}"/>
              </a:ext>
            </a:extLst>
          </p:cNvPr>
          <p:cNvGrpSpPr/>
          <p:nvPr/>
        </p:nvGrpSpPr>
        <p:grpSpPr>
          <a:xfrm>
            <a:off x="6348751" y="562277"/>
            <a:ext cx="5843249" cy="5838524"/>
            <a:chOff x="6030241" y="515065"/>
            <a:chExt cx="5843249" cy="5838524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FB3673CA-F548-A401-E409-A06EC61D3D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33" r="4889" b="1492"/>
            <a:stretch/>
          </p:blipFill>
          <p:spPr>
            <a:xfrm>
              <a:off x="6030241" y="515065"/>
              <a:ext cx="5843249" cy="5838524"/>
            </a:xfrm>
            <a:prstGeom prst="rect">
              <a:avLst/>
            </a:prstGeom>
          </p:spPr>
        </p:pic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DEFAA014-F008-14C8-627E-D6C5086F720D}"/>
                </a:ext>
              </a:extLst>
            </p:cNvPr>
            <p:cNvSpPr txBox="1"/>
            <p:nvPr/>
          </p:nvSpPr>
          <p:spPr>
            <a:xfrm>
              <a:off x="9796946" y="2599623"/>
              <a:ext cx="20417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Message</a:t>
              </a:r>
            </a:p>
            <a:p>
              <a:pPr algn="ctr"/>
              <a:r>
                <a:rPr lang="fr-FR" b="1" dirty="0"/>
                <a:t>UpdateMessage.vi</a:t>
              </a:r>
            </a:p>
            <a:p>
              <a:pPr algn="ctr"/>
              <a:endParaRPr lang="fr-FR" b="1" dirty="0"/>
            </a:p>
            <a:p>
              <a:pPr algn="ctr"/>
              <a:r>
                <a:rPr lang="fr-FR" b="1" dirty="0">
                  <a:sym typeface="Wingdings" panose="05000000000000000000" pitchFamily="2" charset="2"/>
                </a:rPr>
                <a:t> FIFO</a:t>
              </a:r>
              <a:endParaRPr lang="fr-FR" b="1" dirty="0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BA91AC7-A209-8185-BC6C-FDC5BA885016}"/>
              </a:ext>
            </a:extLst>
          </p:cNvPr>
          <p:cNvGrpSpPr/>
          <p:nvPr/>
        </p:nvGrpSpPr>
        <p:grpSpPr>
          <a:xfrm>
            <a:off x="3694432" y="1832155"/>
            <a:ext cx="2581275" cy="2771409"/>
            <a:chOff x="3694432" y="1832155"/>
            <a:chExt cx="2581275" cy="2771409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7277098A-5645-49FB-4901-EBD8439A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94432" y="1832155"/>
              <a:ext cx="2581275" cy="1819275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230C4587-FB1B-6D42-1515-860439B9B99D}"/>
                </a:ext>
              </a:extLst>
            </p:cNvPr>
            <p:cNvSpPr txBox="1"/>
            <p:nvPr/>
          </p:nvSpPr>
          <p:spPr>
            <a:xfrm>
              <a:off x="3891137" y="3957233"/>
              <a:ext cx="2041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Method</a:t>
              </a:r>
            </a:p>
            <a:p>
              <a:pPr algn="ctr"/>
              <a:r>
                <a:rPr lang="fr-FR" b="1" dirty="0"/>
                <a:t>UpdateMessage.vi</a:t>
              </a:r>
            </a:p>
          </p:txBody>
        </p:sp>
      </p:grpSp>
      <p:sp>
        <p:nvSpPr>
          <p:cNvPr id="41" name="ZoneTexte 40">
            <a:extLst>
              <a:ext uri="{FF2B5EF4-FFF2-40B4-BE49-F238E27FC236}">
                <a16:creationId xmlns:a16="http://schemas.microsoft.com/office/drawing/2014/main" id="{2EC2D201-23C6-DD19-56DC-1BA68E315046}"/>
              </a:ext>
            </a:extLst>
          </p:cNvPr>
          <p:cNvSpPr txBox="1"/>
          <p:nvPr/>
        </p:nvSpPr>
        <p:spPr>
          <a:xfrm>
            <a:off x="10225047" y="726385"/>
            <a:ext cx="15603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États</a:t>
            </a:r>
          </a:p>
          <a:p>
            <a:endParaRPr lang="fr-FR" sz="1600" b="1" i="0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#Fonctions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Méthodes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#Messages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E31DA864-43D0-E39E-465A-EBC3A9349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9010" y="1765114"/>
            <a:ext cx="3648075" cy="2838450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1CF5C029-A309-B465-5EDF-18F025B07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114" y="879432"/>
            <a:ext cx="4867152" cy="4443921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300D51E2-6831-9C7F-ECC4-014BCFC08FB1}"/>
              </a:ext>
            </a:extLst>
          </p:cNvPr>
          <p:cNvGrpSpPr/>
          <p:nvPr/>
        </p:nvGrpSpPr>
        <p:grpSpPr>
          <a:xfrm>
            <a:off x="6430002" y="562275"/>
            <a:ext cx="5811896" cy="5078236"/>
            <a:chOff x="5970532" y="524589"/>
            <a:chExt cx="5811896" cy="5078236"/>
          </a:xfrm>
        </p:grpSpPr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B62B6AAC-A196-8F9A-0E76-217E4B7FE2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095" t="2702" r="1511" b="4253"/>
            <a:stretch/>
          </p:blipFill>
          <p:spPr>
            <a:xfrm>
              <a:off x="5970532" y="524589"/>
              <a:ext cx="5811896" cy="5078236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1B772682-7E01-2548-B474-B1D333E8FED2}"/>
                </a:ext>
              </a:extLst>
            </p:cNvPr>
            <p:cNvSpPr txBox="1"/>
            <p:nvPr/>
          </p:nvSpPr>
          <p:spPr>
            <a:xfrm>
              <a:off x="9461940" y="2791148"/>
              <a:ext cx="20417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Do</a:t>
              </a:r>
            </a:p>
            <a:p>
              <a:pPr algn="ctr"/>
              <a:r>
                <a:rPr lang="fr-FR" b="1" dirty="0"/>
                <a:t>UpdateMessage.vi</a:t>
              </a:r>
              <a:br>
                <a:rPr lang="fr-FR" b="1" dirty="0"/>
              </a:br>
              <a:br>
                <a:rPr lang="fr-FR" b="1" dirty="0"/>
              </a:br>
              <a:r>
                <a:rPr lang="fr-FR" b="1" dirty="0">
                  <a:sym typeface="Wingdings" panose="05000000000000000000" pitchFamily="2" charset="2"/>
                </a:rPr>
                <a:t> Exécution</a:t>
              </a:r>
              <a:endParaRPr lang="fr-FR" b="1" dirty="0"/>
            </a:p>
          </p:txBody>
        </p:sp>
      </p:grpSp>
      <p:sp>
        <p:nvSpPr>
          <p:cNvPr id="42" name="ZoneTexte 41">
            <a:extLst>
              <a:ext uri="{FF2B5EF4-FFF2-40B4-BE49-F238E27FC236}">
                <a16:creationId xmlns:a16="http://schemas.microsoft.com/office/drawing/2014/main" id="{5D35B93C-61EA-2D67-3F78-2FF7C07C4624}"/>
              </a:ext>
            </a:extLst>
          </p:cNvPr>
          <p:cNvSpPr txBox="1"/>
          <p:nvPr/>
        </p:nvSpPr>
        <p:spPr>
          <a:xfrm>
            <a:off x="10225047" y="726385"/>
            <a:ext cx="15603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États</a:t>
            </a:r>
          </a:p>
          <a:p>
            <a:endParaRPr lang="fr-FR" sz="1600" b="1" i="0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#Fonctions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#Méthodes</a:t>
            </a:r>
            <a:b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6FD901-6D5F-1FC4-0338-4291879BF6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5668" y="733637"/>
            <a:ext cx="792715" cy="792715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661007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3318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 Framework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18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0611FD49-E0DA-5430-5A75-B61F226B01F6}"/>
              </a:ext>
            </a:extLst>
          </p:cNvPr>
          <p:cNvSpPr/>
          <p:nvPr/>
        </p:nvSpPr>
        <p:spPr>
          <a:xfrm>
            <a:off x="4549744" y="2336602"/>
            <a:ext cx="4815149" cy="1726059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650733" cy="5456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3246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 Framework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B1B2BE7-154E-5B0E-F032-2A32A50885B1}"/>
              </a:ext>
            </a:extLst>
          </p:cNvPr>
          <p:cNvSpPr/>
          <p:nvPr/>
        </p:nvSpPr>
        <p:spPr>
          <a:xfrm>
            <a:off x="4777483" y="1540370"/>
            <a:ext cx="708916" cy="226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9357B-8C9C-8B64-3B3A-FFE6718E8E31}"/>
              </a:ext>
            </a:extLst>
          </p:cNvPr>
          <p:cNvSpPr/>
          <p:nvPr/>
        </p:nvSpPr>
        <p:spPr>
          <a:xfrm>
            <a:off x="5861409" y="1341005"/>
            <a:ext cx="2191820" cy="621011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Do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Actor </a:t>
            </a:r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Core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7ED9276-1A0C-6A24-D743-F33901780440}"/>
              </a:ext>
            </a:extLst>
          </p:cNvPr>
          <p:cNvSpPr/>
          <p:nvPr/>
        </p:nvSpPr>
        <p:spPr>
          <a:xfrm>
            <a:off x="8366586" y="1538494"/>
            <a:ext cx="708916" cy="2260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B7851-D478-0011-48E3-3CB0C2F938BC}"/>
              </a:ext>
            </a:extLst>
          </p:cNvPr>
          <p:cNvSpPr/>
          <p:nvPr/>
        </p:nvSpPr>
        <p:spPr>
          <a:xfrm>
            <a:off x="9404276" y="1341003"/>
            <a:ext cx="2191820" cy="621011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Close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Stop </a:t>
            </a:r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Core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D25A43F-9247-941A-6EBF-F5055F6D97DB}"/>
              </a:ext>
            </a:extLst>
          </p:cNvPr>
          <p:cNvSpPr/>
          <p:nvPr/>
        </p:nvSpPr>
        <p:spPr>
          <a:xfrm>
            <a:off x="5861409" y="2197803"/>
            <a:ext cx="2191820" cy="1078156"/>
          </a:xfrm>
          <a:prstGeom prst="roundRect">
            <a:avLst/>
          </a:prstGeom>
          <a:solidFill>
            <a:srgbClr val="B4C7E7"/>
          </a:solidFill>
          <a:ln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solidFill>
                  <a:schemeClr val="tx1"/>
                </a:solidFill>
              </a:rPr>
              <a:t>Consommateur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DD9E7E6-36E5-46CD-1F96-E95BB4DF0AEC}"/>
              </a:ext>
            </a:extLst>
          </p:cNvPr>
          <p:cNvSpPr/>
          <p:nvPr/>
        </p:nvSpPr>
        <p:spPr>
          <a:xfrm>
            <a:off x="5861409" y="2403283"/>
            <a:ext cx="2191820" cy="955497"/>
          </a:xfrm>
          <a:prstGeom prst="roundRect">
            <a:avLst/>
          </a:prstGeom>
          <a:solidFill>
            <a:srgbClr val="B4C7E7"/>
          </a:solidFill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>
                <a:solidFill>
                  <a:schemeClr val="tx1"/>
                </a:solidFill>
              </a:rPr>
              <a:t>Producteur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98353F4B-DE15-B741-3C70-657C432FC73E}"/>
              </a:ext>
            </a:extLst>
          </p:cNvPr>
          <p:cNvSpPr/>
          <p:nvPr/>
        </p:nvSpPr>
        <p:spPr>
          <a:xfrm>
            <a:off x="5028343" y="2841491"/>
            <a:ext cx="708916" cy="297682"/>
          </a:xfrm>
          <a:prstGeom prst="rightArrow">
            <a:avLst/>
          </a:prstGeom>
          <a:solidFill>
            <a:srgbClr val="FFC000"/>
          </a:solidFill>
          <a:ln>
            <a:solidFill>
              <a:srgbClr val="B687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D11B5F-84A7-60ED-1269-D63FEA1CB427}"/>
              </a:ext>
            </a:extLst>
          </p:cNvPr>
          <p:cNvSpPr txBox="1"/>
          <p:nvPr/>
        </p:nvSpPr>
        <p:spPr>
          <a:xfrm>
            <a:off x="3267181" y="2830300"/>
            <a:ext cx="167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00000"/>
                </a:solidFill>
                <a:cs typeface="Arial" panose="020B0604020202020204" pitchFamily="34" charset="0"/>
              </a:rPr>
              <a:t>Messages états</a:t>
            </a:r>
            <a:endParaRPr lang="fr-FR" dirty="0"/>
          </a:p>
        </p:txBody>
      </p:sp>
      <p:sp>
        <p:nvSpPr>
          <p:cNvPr id="17" name="Flèche : en arc 16">
            <a:extLst>
              <a:ext uri="{FF2B5EF4-FFF2-40B4-BE49-F238E27FC236}">
                <a16:creationId xmlns:a16="http://schemas.microsoft.com/office/drawing/2014/main" id="{F175639B-1F2E-EE60-CE78-0C91CF0DB7CE}"/>
              </a:ext>
            </a:extLst>
          </p:cNvPr>
          <p:cNvSpPr/>
          <p:nvPr/>
        </p:nvSpPr>
        <p:spPr>
          <a:xfrm rot="16200000" flipH="1">
            <a:off x="4897924" y="2463012"/>
            <a:ext cx="1726058" cy="2191822"/>
          </a:xfrm>
          <a:prstGeom prst="circularArrow">
            <a:avLst>
              <a:gd name="adj1" fmla="val 12500"/>
              <a:gd name="adj2" fmla="val 704516"/>
              <a:gd name="adj3" fmla="val 20457681"/>
              <a:gd name="adj4" fmla="val 10829532"/>
              <a:gd name="adj5" fmla="val 12500"/>
            </a:avLst>
          </a:prstGeom>
          <a:solidFill>
            <a:srgbClr val="FFC000"/>
          </a:solidFill>
          <a:ln>
            <a:solidFill>
              <a:srgbClr val="B68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1E788F-9B7E-8D72-7072-704831403A1E}"/>
              </a:ext>
            </a:extLst>
          </p:cNvPr>
          <p:cNvSpPr/>
          <p:nvPr/>
        </p:nvSpPr>
        <p:spPr>
          <a:xfrm>
            <a:off x="4549745" y="4046614"/>
            <a:ext cx="2191820" cy="621011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Etat (</a:t>
            </a:r>
            <a:r>
              <a:rPr lang="fr-FR" sz="1600" dirty="0" err="1">
                <a:solidFill>
                  <a:schemeClr val="tx1"/>
                </a:solidFill>
              </a:rPr>
              <a:t>Execution</a:t>
            </a:r>
            <a:r>
              <a:rPr lang="fr-FR" sz="1600" dirty="0">
                <a:solidFill>
                  <a:schemeClr val="tx1"/>
                </a:solidFill>
              </a:rPr>
              <a:t> via do)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Receive</a:t>
            </a:r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 Message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A22ED774-D445-EB36-75F6-2CB7054202DE}"/>
              </a:ext>
            </a:extLst>
          </p:cNvPr>
          <p:cNvSpPr/>
          <p:nvPr/>
        </p:nvSpPr>
        <p:spPr>
          <a:xfrm>
            <a:off x="6791218" y="4244982"/>
            <a:ext cx="494868" cy="2242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829343-0C89-FCAD-B756-C0A5CAB80E3C}"/>
              </a:ext>
            </a:extLst>
          </p:cNvPr>
          <p:cNvSpPr/>
          <p:nvPr/>
        </p:nvSpPr>
        <p:spPr>
          <a:xfrm>
            <a:off x="7335748" y="4046614"/>
            <a:ext cx="2029146" cy="621011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solidFill>
                  <a:schemeClr val="tx1"/>
                </a:solidFill>
              </a:rPr>
              <a:t>Error</a:t>
            </a:r>
            <a:r>
              <a:rPr lang="fr-FR" sz="1600" dirty="0">
                <a:solidFill>
                  <a:schemeClr val="tx1"/>
                </a:solidFill>
              </a:rPr>
              <a:t> management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Handle</a:t>
            </a:r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Error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428D9-4775-6C72-0D2B-5DAD9D57F158}"/>
              </a:ext>
            </a:extLst>
          </p:cNvPr>
          <p:cNvSpPr/>
          <p:nvPr/>
        </p:nvSpPr>
        <p:spPr>
          <a:xfrm>
            <a:off x="2272306" y="1341005"/>
            <a:ext cx="2191820" cy="621011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Initialisation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Pre Launch Init</a:t>
            </a:r>
            <a:endParaRPr lang="fr-FR" sz="1600" b="1" dirty="0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6116AC-D4BD-09C7-64D5-A9D15B170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33" y="4129342"/>
            <a:ext cx="6200775" cy="2114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40C828-22D0-EE36-14EF-8ED74833CD6E}"/>
              </a:ext>
            </a:extLst>
          </p:cNvPr>
          <p:cNvSpPr/>
          <p:nvPr/>
        </p:nvSpPr>
        <p:spPr>
          <a:xfrm>
            <a:off x="2267163" y="1341002"/>
            <a:ext cx="2191820" cy="621011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Do</a:t>
            </a:r>
            <a:endParaRPr lang="fr-F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Actor </a:t>
            </a:r>
            <a:r>
              <a:rPr lang="fr-FR" sz="1600" b="1" dirty="0" err="1">
                <a:solidFill>
                  <a:srgbClr val="000000"/>
                </a:solidFill>
                <a:cs typeface="Arial" panose="020B0604020202020204" pitchFamily="34" charset="0"/>
              </a:rPr>
              <a:t>Core</a:t>
            </a:r>
            <a:endParaRPr lang="fr-FR" sz="1600" b="1" dirty="0">
              <a:solidFill>
                <a:schemeClr val="tx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41DBEF4-DD66-2696-7E7B-BD0F92D02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744" y="661696"/>
            <a:ext cx="7315200" cy="329565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33BCAD7-BAF5-D00D-9384-E4CA8B5CA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947" y="4998728"/>
            <a:ext cx="641555" cy="64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2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7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7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7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-8.33333E-7 0.25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81481E-6 L -3.75E-6 0.2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4.16667E-6 0.25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1.25E-6 0.2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7.40741E-7 L 1.25E-6 0.25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59259E-6 L -3.95833E-6 0.25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7.40741E-7 L -3.95833E-6 0.2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060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060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060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2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060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2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060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5" grpId="2" animBg="1"/>
      <p:bldP spid="25" grpId="3" animBg="1"/>
      <p:bldP spid="4" grpId="0" animBg="1"/>
      <p:bldP spid="4" grpId="1" animBg="1"/>
      <p:bldP spid="5" grpId="0" animBg="1"/>
      <p:bldP spid="5" grpId="1" build="allAtOnce" animBg="1"/>
      <p:bldP spid="6" grpId="0" animBg="1"/>
      <p:bldP spid="6" grpId="1" animBg="1"/>
      <p:bldP spid="7" grpId="0" animBg="1"/>
      <p:bldP spid="7" grpId="1" build="allAtOnce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4" grpId="3" animBg="1"/>
      <p:bldP spid="16" grpId="0"/>
      <p:bldP spid="16" grpId="1"/>
      <p:bldP spid="16" grpId="2"/>
      <p:bldP spid="16" grpId="3"/>
      <p:bldP spid="17" grpId="0" animBg="1"/>
      <p:bldP spid="17" grpId="1" animBg="1"/>
      <p:bldP spid="17" grpId="2" animBg="1"/>
      <p:bldP spid="21" grpId="0" animBg="1"/>
      <p:bldP spid="21" grpId="1" animBg="1"/>
      <p:bldP spid="21" grpId="2" build="allAtOnce" animBg="1"/>
      <p:bldP spid="21" grpId="3" build="allAtOnce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build="allAtOnce" animBg="1"/>
      <p:bldP spid="23" grpId="3" build="allAtOnce" animBg="1"/>
      <p:bldP spid="15" grpId="0" build="allAtOnce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D9238A12-5129-D037-8DC7-55A3586FA636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25336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2D2952C-3362-0D68-A62D-495AA1B07A15}"/>
              </a:ext>
            </a:extLst>
          </p:cNvPr>
          <p:cNvSpPr txBox="1"/>
          <p:nvPr/>
        </p:nvSpPr>
        <p:spPr>
          <a:xfrm>
            <a:off x="0" y="728181"/>
            <a:ext cx="2533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Communication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E288063-C66E-4928-E423-64CC33F38EE2}"/>
              </a:ext>
            </a:extLst>
          </p:cNvPr>
          <p:cNvGrpSpPr/>
          <p:nvPr/>
        </p:nvGrpSpPr>
        <p:grpSpPr>
          <a:xfrm>
            <a:off x="3109266" y="1678286"/>
            <a:ext cx="6295498" cy="4228051"/>
            <a:chOff x="3082889" y="1693663"/>
            <a:chExt cx="6295498" cy="42280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2F248C-FDA0-95E5-B34D-19E5A98C6410}"/>
                </a:ext>
              </a:extLst>
            </p:cNvPr>
            <p:cNvSpPr/>
            <p:nvPr/>
          </p:nvSpPr>
          <p:spPr>
            <a:xfrm>
              <a:off x="5454771" y="1693663"/>
              <a:ext cx="1260000" cy="42280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D25BCB27-5273-7BDE-29E7-3EC5FDF4F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2188613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1FAE5BB8-5920-59D6-CC15-AB6F50EBF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3250519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ED4A4E4C-F85F-5FEF-72BF-01C8D245C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3781472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9BEE034F-1B52-B237-6E96-1BCD615301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4312425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0B12DE8B-10EE-E7B3-7918-C84A9E957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4843378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28DEC397-8CD7-4C82-A471-0E1D69228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5374333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714B213-BDB3-AB50-8135-7FAD68ACE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771" y="2719566"/>
              <a:ext cx="126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Flèche : droite 21">
              <a:extLst>
                <a:ext uri="{FF2B5EF4-FFF2-40B4-BE49-F238E27FC236}">
                  <a16:creationId xmlns:a16="http://schemas.microsoft.com/office/drawing/2014/main" id="{26293B9F-2E32-B2AD-DCD5-09964A2E36AC}"/>
                </a:ext>
              </a:extLst>
            </p:cNvPr>
            <p:cNvSpPr/>
            <p:nvPr/>
          </p:nvSpPr>
          <p:spPr>
            <a:xfrm>
              <a:off x="4037031" y="1777553"/>
              <a:ext cx="1199625" cy="31249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lèche : droite 22">
              <a:extLst>
                <a:ext uri="{FF2B5EF4-FFF2-40B4-BE49-F238E27FC236}">
                  <a16:creationId xmlns:a16="http://schemas.microsoft.com/office/drawing/2014/main" id="{D27AD64B-D7D5-AAD0-FFC1-B62D945FA8FD}"/>
                </a:ext>
              </a:extLst>
            </p:cNvPr>
            <p:cNvSpPr/>
            <p:nvPr/>
          </p:nvSpPr>
          <p:spPr>
            <a:xfrm>
              <a:off x="6932886" y="5446847"/>
              <a:ext cx="1199625" cy="31249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CAD6299-BD4C-A7E0-BD7F-A632613060A1}"/>
                </a:ext>
              </a:extLst>
            </p:cNvPr>
            <p:cNvSpPr txBox="1"/>
            <p:nvPr/>
          </p:nvSpPr>
          <p:spPr>
            <a:xfrm>
              <a:off x="3082889" y="1731567"/>
              <a:ext cx="993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MSG IN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14661321-8C14-66AF-E614-896CAC39EDAF}"/>
                </a:ext>
              </a:extLst>
            </p:cNvPr>
            <p:cNvSpPr txBox="1"/>
            <p:nvPr/>
          </p:nvSpPr>
          <p:spPr>
            <a:xfrm>
              <a:off x="8118386" y="5419139"/>
              <a:ext cx="1260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MSG OUT</a:t>
              </a: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27C02D59-122A-17C6-B62C-E4A5A087669C}"/>
              </a:ext>
            </a:extLst>
          </p:cNvPr>
          <p:cNvGrpSpPr/>
          <p:nvPr/>
        </p:nvGrpSpPr>
        <p:grpSpPr>
          <a:xfrm>
            <a:off x="4165599" y="1757415"/>
            <a:ext cx="462410" cy="405020"/>
            <a:chOff x="9146325" y="2868667"/>
            <a:chExt cx="342900" cy="266700"/>
          </a:xfrm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713DCDDF-14FE-2174-EF1D-525CB981E9AE}"/>
                </a:ext>
              </a:extLst>
            </p:cNvPr>
            <p:cNvSpPr/>
            <p:nvPr/>
          </p:nvSpPr>
          <p:spPr>
            <a:xfrm>
              <a:off x="9239573" y="2918541"/>
              <a:ext cx="156400" cy="111537"/>
            </a:xfrm>
            <a:custGeom>
              <a:avLst/>
              <a:gdLst>
                <a:gd name="connsiteX0" fmla="*/ 54388 w 156400"/>
                <a:gd name="connsiteY0" fmla="*/ 111538 h 111537"/>
                <a:gd name="connsiteX1" fmla="*/ 47625 w 156400"/>
                <a:gd name="connsiteY1" fmla="*/ 108775 h 111537"/>
                <a:gd name="connsiteX2" fmla="*/ 0 w 156400"/>
                <a:gd name="connsiteY2" fmla="*/ 61150 h 111537"/>
                <a:gd name="connsiteX3" fmla="*/ 13525 w 156400"/>
                <a:gd name="connsiteY3" fmla="*/ 47625 h 111537"/>
                <a:gd name="connsiteX4" fmla="*/ 54388 w 156400"/>
                <a:gd name="connsiteY4" fmla="*/ 88582 h 111537"/>
                <a:gd name="connsiteX5" fmla="*/ 142875 w 156400"/>
                <a:gd name="connsiteY5" fmla="*/ 0 h 111537"/>
                <a:gd name="connsiteX6" fmla="*/ 156400 w 156400"/>
                <a:gd name="connsiteY6" fmla="*/ 13525 h 111537"/>
                <a:gd name="connsiteX7" fmla="*/ 61150 w 156400"/>
                <a:gd name="connsiteY7" fmla="*/ 108775 h 111537"/>
                <a:gd name="connsiteX8" fmla="*/ 54388 w 156400"/>
                <a:gd name="connsiteY8" fmla="*/ 111538 h 11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400" h="111537">
                  <a:moveTo>
                    <a:pt x="54388" y="111538"/>
                  </a:moveTo>
                  <a:cubicBezTo>
                    <a:pt x="51856" y="111552"/>
                    <a:pt x="49422" y="110559"/>
                    <a:pt x="47625" y="108775"/>
                  </a:cubicBezTo>
                  <a:lnTo>
                    <a:pt x="0" y="61150"/>
                  </a:lnTo>
                  <a:lnTo>
                    <a:pt x="13525" y="47625"/>
                  </a:lnTo>
                  <a:lnTo>
                    <a:pt x="54388" y="88582"/>
                  </a:lnTo>
                  <a:lnTo>
                    <a:pt x="142875" y="0"/>
                  </a:lnTo>
                  <a:lnTo>
                    <a:pt x="156400" y="13525"/>
                  </a:lnTo>
                  <a:lnTo>
                    <a:pt x="61150" y="108775"/>
                  </a:lnTo>
                  <a:cubicBezTo>
                    <a:pt x="59353" y="110559"/>
                    <a:pt x="56919" y="111552"/>
                    <a:pt x="54388" y="111538"/>
                  </a:cubicBez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dirty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A126A2DE-695E-7B68-3923-FB1C2E5C228D}"/>
                </a:ext>
              </a:extLst>
            </p:cNvPr>
            <p:cNvSpPr/>
            <p:nvPr/>
          </p:nvSpPr>
          <p:spPr>
            <a:xfrm>
              <a:off x="9146325" y="2868667"/>
              <a:ext cx="342900" cy="266700"/>
            </a:xfrm>
            <a:custGeom>
              <a:avLst/>
              <a:gdLst>
                <a:gd name="connsiteX0" fmla="*/ 66675 w 342900"/>
                <a:gd name="connsiteY0" fmla="*/ 266700 h 266700"/>
                <a:gd name="connsiteX1" fmla="*/ 62008 w 342900"/>
                <a:gd name="connsiteY1" fmla="*/ 265462 h 266700"/>
                <a:gd name="connsiteX2" fmla="*/ 57150 w 342900"/>
                <a:gd name="connsiteY2" fmla="*/ 257175 h 266700"/>
                <a:gd name="connsiteX3" fmla="*/ 57150 w 342900"/>
                <a:gd name="connsiteY3" fmla="*/ 209550 h 266700"/>
                <a:gd name="connsiteX4" fmla="*/ 9525 w 342900"/>
                <a:gd name="connsiteY4" fmla="*/ 209550 h 266700"/>
                <a:gd name="connsiteX5" fmla="*/ 0 w 342900"/>
                <a:gd name="connsiteY5" fmla="*/ 200025 h 266700"/>
                <a:gd name="connsiteX6" fmla="*/ 0 w 342900"/>
                <a:gd name="connsiteY6" fmla="*/ 9525 h 266700"/>
                <a:gd name="connsiteX7" fmla="*/ 9525 w 342900"/>
                <a:gd name="connsiteY7" fmla="*/ 0 h 266700"/>
                <a:gd name="connsiteX8" fmla="*/ 333375 w 342900"/>
                <a:gd name="connsiteY8" fmla="*/ 0 h 266700"/>
                <a:gd name="connsiteX9" fmla="*/ 342900 w 342900"/>
                <a:gd name="connsiteY9" fmla="*/ 9525 h 266700"/>
                <a:gd name="connsiteX10" fmla="*/ 342900 w 342900"/>
                <a:gd name="connsiteY10" fmla="*/ 200025 h 266700"/>
                <a:gd name="connsiteX11" fmla="*/ 333375 w 342900"/>
                <a:gd name="connsiteY11" fmla="*/ 209550 h 266700"/>
                <a:gd name="connsiteX12" fmla="*/ 164592 w 342900"/>
                <a:gd name="connsiteY12" fmla="*/ 209550 h 266700"/>
                <a:gd name="connsiteX13" fmla="*/ 71533 w 342900"/>
                <a:gd name="connsiteY13" fmla="*/ 265367 h 266700"/>
                <a:gd name="connsiteX14" fmla="*/ 66675 w 342900"/>
                <a:gd name="connsiteY14" fmla="*/ 266700 h 266700"/>
                <a:gd name="connsiteX15" fmla="*/ 19050 w 342900"/>
                <a:gd name="connsiteY15" fmla="*/ 190500 h 266700"/>
                <a:gd name="connsiteX16" fmla="*/ 66675 w 342900"/>
                <a:gd name="connsiteY16" fmla="*/ 190500 h 266700"/>
                <a:gd name="connsiteX17" fmla="*/ 76200 w 342900"/>
                <a:gd name="connsiteY17" fmla="*/ 200025 h 266700"/>
                <a:gd name="connsiteX18" fmla="*/ 76200 w 342900"/>
                <a:gd name="connsiteY18" fmla="*/ 240316 h 266700"/>
                <a:gd name="connsiteX19" fmla="*/ 157067 w 342900"/>
                <a:gd name="connsiteY19" fmla="*/ 191834 h 266700"/>
                <a:gd name="connsiteX20" fmla="*/ 161925 w 342900"/>
                <a:gd name="connsiteY20" fmla="*/ 190500 h 266700"/>
                <a:gd name="connsiteX21" fmla="*/ 323850 w 342900"/>
                <a:gd name="connsiteY21" fmla="*/ 190500 h 266700"/>
                <a:gd name="connsiteX22" fmla="*/ 323850 w 342900"/>
                <a:gd name="connsiteY22" fmla="*/ 19050 h 266700"/>
                <a:gd name="connsiteX23" fmla="*/ 19050 w 342900"/>
                <a:gd name="connsiteY23" fmla="*/ 1905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900" h="266700">
                  <a:moveTo>
                    <a:pt x="66675" y="266700"/>
                  </a:moveTo>
                  <a:cubicBezTo>
                    <a:pt x="65039" y="266695"/>
                    <a:pt x="63432" y="266269"/>
                    <a:pt x="62008" y="265462"/>
                  </a:cubicBezTo>
                  <a:cubicBezTo>
                    <a:pt x="59012" y="263778"/>
                    <a:pt x="57156" y="260612"/>
                    <a:pt x="57150" y="257175"/>
                  </a:cubicBezTo>
                  <a:lnTo>
                    <a:pt x="57150" y="209550"/>
                  </a:lnTo>
                  <a:lnTo>
                    <a:pt x="9525" y="209550"/>
                  </a:lnTo>
                  <a:cubicBezTo>
                    <a:pt x="4264" y="209550"/>
                    <a:pt x="0" y="205286"/>
                    <a:pt x="0" y="200025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lnTo>
                    <a:pt x="333375" y="0"/>
                  </a:lnTo>
                  <a:cubicBezTo>
                    <a:pt x="338636" y="0"/>
                    <a:pt x="342900" y="4264"/>
                    <a:pt x="342900" y="9525"/>
                  </a:cubicBezTo>
                  <a:lnTo>
                    <a:pt x="342900" y="200025"/>
                  </a:lnTo>
                  <a:cubicBezTo>
                    <a:pt x="342900" y="205286"/>
                    <a:pt x="338636" y="209550"/>
                    <a:pt x="333375" y="209550"/>
                  </a:cubicBezTo>
                  <a:lnTo>
                    <a:pt x="164592" y="209550"/>
                  </a:lnTo>
                  <a:lnTo>
                    <a:pt x="71533" y="265367"/>
                  </a:lnTo>
                  <a:cubicBezTo>
                    <a:pt x="70062" y="266239"/>
                    <a:pt x="68385" y="266699"/>
                    <a:pt x="66675" y="266700"/>
                  </a:cubicBezTo>
                  <a:close/>
                  <a:moveTo>
                    <a:pt x="19050" y="190500"/>
                  </a:moveTo>
                  <a:lnTo>
                    <a:pt x="66675" y="190500"/>
                  </a:lnTo>
                  <a:cubicBezTo>
                    <a:pt x="71936" y="190500"/>
                    <a:pt x="76200" y="194764"/>
                    <a:pt x="76200" y="200025"/>
                  </a:cubicBezTo>
                  <a:lnTo>
                    <a:pt x="76200" y="240316"/>
                  </a:lnTo>
                  <a:lnTo>
                    <a:pt x="157067" y="191834"/>
                  </a:lnTo>
                  <a:cubicBezTo>
                    <a:pt x="158538" y="190961"/>
                    <a:pt x="160215" y="190501"/>
                    <a:pt x="161925" y="190500"/>
                  </a:cubicBezTo>
                  <a:lnTo>
                    <a:pt x="323850" y="190500"/>
                  </a:lnTo>
                  <a:lnTo>
                    <a:pt x="323850" y="19050"/>
                  </a:lnTo>
                  <a:lnTo>
                    <a:pt x="19050" y="19050"/>
                  </a:ln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F4A9770-8E87-4E8C-D553-1DC7CA7F9AD6}"/>
              </a:ext>
            </a:extLst>
          </p:cNvPr>
          <p:cNvGrpSpPr/>
          <p:nvPr/>
        </p:nvGrpSpPr>
        <p:grpSpPr>
          <a:xfrm>
            <a:off x="4173136" y="1764962"/>
            <a:ext cx="462410" cy="405020"/>
            <a:chOff x="9146325" y="2868667"/>
            <a:chExt cx="342900" cy="266700"/>
          </a:xfrm>
        </p:grpSpPr>
        <p:sp>
          <p:nvSpPr>
            <p:cNvPr id="30" name="Forme libre : forme 29">
              <a:extLst>
                <a:ext uri="{FF2B5EF4-FFF2-40B4-BE49-F238E27FC236}">
                  <a16:creationId xmlns:a16="http://schemas.microsoft.com/office/drawing/2014/main" id="{D72CA89E-5C3E-95D1-5014-F6FDE94D5659}"/>
                </a:ext>
              </a:extLst>
            </p:cNvPr>
            <p:cNvSpPr/>
            <p:nvPr/>
          </p:nvSpPr>
          <p:spPr>
            <a:xfrm>
              <a:off x="9239573" y="2918541"/>
              <a:ext cx="156400" cy="111537"/>
            </a:xfrm>
            <a:custGeom>
              <a:avLst/>
              <a:gdLst>
                <a:gd name="connsiteX0" fmla="*/ 54388 w 156400"/>
                <a:gd name="connsiteY0" fmla="*/ 111538 h 111537"/>
                <a:gd name="connsiteX1" fmla="*/ 47625 w 156400"/>
                <a:gd name="connsiteY1" fmla="*/ 108775 h 111537"/>
                <a:gd name="connsiteX2" fmla="*/ 0 w 156400"/>
                <a:gd name="connsiteY2" fmla="*/ 61150 h 111537"/>
                <a:gd name="connsiteX3" fmla="*/ 13525 w 156400"/>
                <a:gd name="connsiteY3" fmla="*/ 47625 h 111537"/>
                <a:gd name="connsiteX4" fmla="*/ 54388 w 156400"/>
                <a:gd name="connsiteY4" fmla="*/ 88582 h 111537"/>
                <a:gd name="connsiteX5" fmla="*/ 142875 w 156400"/>
                <a:gd name="connsiteY5" fmla="*/ 0 h 111537"/>
                <a:gd name="connsiteX6" fmla="*/ 156400 w 156400"/>
                <a:gd name="connsiteY6" fmla="*/ 13525 h 111537"/>
                <a:gd name="connsiteX7" fmla="*/ 61150 w 156400"/>
                <a:gd name="connsiteY7" fmla="*/ 108775 h 111537"/>
                <a:gd name="connsiteX8" fmla="*/ 54388 w 156400"/>
                <a:gd name="connsiteY8" fmla="*/ 111538 h 11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400" h="111537">
                  <a:moveTo>
                    <a:pt x="54388" y="111538"/>
                  </a:moveTo>
                  <a:cubicBezTo>
                    <a:pt x="51856" y="111552"/>
                    <a:pt x="49422" y="110559"/>
                    <a:pt x="47625" y="108775"/>
                  </a:cubicBezTo>
                  <a:lnTo>
                    <a:pt x="0" y="61150"/>
                  </a:lnTo>
                  <a:lnTo>
                    <a:pt x="13525" y="47625"/>
                  </a:lnTo>
                  <a:lnTo>
                    <a:pt x="54388" y="88582"/>
                  </a:lnTo>
                  <a:lnTo>
                    <a:pt x="142875" y="0"/>
                  </a:lnTo>
                  <a:lnTo>
                    <a:pt x="156400" y="13525"/>
                  </a:lnTo>
                  <a:lnTo>
                    <a:pt x="61150" y="108775"/>
                  </a:lnTo>
                  <a:cubicBezTo>
                    <a:pt x="59353" y="110559"/>
                    <a:pt x="56919" y="111552"/>
                    <a:pt x="54388" y="111538"/>
                  </a:cubicBez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dirty="0"/>
            </a:p>
          </p:txBody>
        </p: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91649159-3425-C501-9804-E8AD9A84E6C1}"/>
                </a:ext>
              </a:extLst>
            </p:cNvPr>
            <p:cNvSpPr/>
            <p:nvPr/>
          </p:nvSpPr>
          <p:spPr>
            <a:xfrm>
              <a:off x="9146325" y="2868667"/>
              <a:ext cx="342900" cy="266700"/>
            </a:xfrm>
            <a:custGeom>
              <a:avLst/>
              <a:gdLst>
                <a:gd name="connsiteX0" fmla="*/ 66675 w 342900"/>
                <a:gd name="connsiteY0" fmla="*/ 266700 h 266700"/>
                <a:gd name="connsiteX1" fmla="*/ 62008 w 342900"/>
                <a:gd name="connsiteY1" fmla="*/ 265462 h 266700"/>
                <a:gd name="connsiteX2" fmla="*/ 57150 w 342900"/>
                <a:gd name="connsiteY2" fmla="*/ 257175 h 266700"/>
                <a:gd name="connsiteX3" fmla="*/ 57150 w 342900"/>
                <a:gd name="connsiteY3" fmla="*/ 209550 h 266700"/>
                <a:gd name="connsiteX4" fmla="*/ 9525 w 342900"/>
                <a:gd name="connsiteY4" fmla="*/ 209550 h 266700"/>
                <a:gd name="connsiteX5" fmla="*/ 0 w 342900"/>
                <a:gd name="connsiteY5" fmla="*/ 200025 h 266700"/>
                <a:gd name="connsiteX6" fmla="*/ 0 w 342900"/>
                <a:gd name="connsiteY6" fmla="*/ 9525 h 266700"/>
                <a:gd name="connsiteX7" fmla="*/ 9525 w 342900"/>
                <a:gd name="connsiteY7" fmla="*/ 0 h 266700"/>
                <a:gd name="connsiteX8" fmla="*/ 333375 w 342900"/>
                <a:gd name="connsiteY8" fmla="*/ 0 h 266700"/>
                <a:gd name="connsiteX9" fmla="*/ 342900 w 342900"/>
                <a:gd name="connsiteY9" fmla="*/ 9525 h 266700"/>
                <a:gd name="connsiteX10" fmla="*/ 342900 w 342900"/>
                <a:gd name="connsiteY10" fmla="*/ 200025 h 266700"/>
                <a:gd name="connsiteX11" fmla="*/ 333375 w 342900"/>
                <a:gd name="connsiteY11" fmla="*/ 209550 h 266700"/>
                <a:gd name="connsiteX12" fmla="*/ 164592 w 342900"/>
                <a:gd name="connsiteY12" fmla="*/ 209550 h 266700"/>
                <a:gd name="connsiteX13" fmla="*/ 71533 w 342900"/>
                <a:gd name="connsiteY13" fmla="*/ 265367 h 266700"/>
                <a:gd name="connsiteX14" fmla="*/ 66675 w 342900"/>
                <a:gd name="connsiteY14" fmla="*/ 266700 h 266700"/>
                <a:gd name="connsiteX15" fmla="*/ 19050 w 342900"/>
                <a:gd name="connsiteY15" fmla="*/ 190500 h 266700"/>
                <a:gd name="connsiteX16" fmla="*/ 66675 w 342900"/>
                <a:gd name="connsiteY16" fmla="*/ 190500 h 266700"/>
                <a:gd name="connsiteX17" fmla="*/ 76200 w 342900"/>
                <a:gd name="connsiteY17" fmla="*/ 200025 h 266700"/>
                <a:gd name="connsiteX18" fmla="*/ 76200 w 342900"/>
                <a:gd name="connsiteY18" fmla="*/ 240316 h 266700"/>
                <a:gd name="connsiteX19" fmla="*/ 157067 w 342900"/>
                <a:gd name="connsiteY19" fmla="*/ 191834 h 266700"/>
                <a:gd name="connsiteX20" fmla="*/ 161925 w 342900"/>
                <a:gd name="connsiteY20" fmla="*/ 190500 h 266700"/>
                <a:gd name="connsiteX21" fmla="*/ 323850 w 342900"/>
                <a:gd name="connsiteY21" fmla="*/ 190500 h 266700"/>
                <a:gd name="connsiteX22" fmla="*/ 323850 w 342900"/>
                <a:gd name="connsiteY22" fmla="*/ 19050 h 266700"/>
                <a:gd name="connsiteX23" fmla="*/ 19050 w 342900"/>
                <a:gd name="connsiteY23" fmla="*/ 1905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900" h="266700">
                  <a:moveTo>
                    <a:pt x="66675" y="266700"/>
                  </a:moveTo>
                  <a:cubicBezTo>
                    <a:pt x="65039" y="266695"/>
                    <a:pt x="63432" y="266269"/>
                    <a:pt x="62008" y="265462"/>
                  </a:cubicBezTo>
                  <a:cubicBezTo>
                    <a:pt x="59012" y="263778"/>
                    <a:pt x="57156" y="260612"/>
                    <a:pt x="57150" y="257175"/>
                  </a:cubicBezTo>
                  <a:lnTo>
                    <a:pt x="57150" y="209550"/>
                  </a:lnTo>
                  <a:lnTo>
                    <a:pt x="9525" y="209550"/>
                  </a:lnTo>
                  <a:cubicBezTo>
                    <a:pt x="4264" y="209550"/>
                    <a:pt x="0" y="205286"/>
                    <a:pt x="0" y="200025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lnTo>
                    <a:pt x="333375" y="0"/>
                  </a:lnTo>
                  <a:cubicBezTo>
                    <a:pt x="338636" y="0"/>
                    <a:pt x="342900" y="4264"/>
                    <a:pt x="342900" y="9525"/>
                  </a:cubicBezTo>
                  <a:lnTo>
                    <a:pt x="342900" y="200025"/>
                  </a:lnTo>
                  <a:cubicBezTo>
                    <a:pt x="342900" y="205286"/>
                    <a:pt x="338636" y="209550"/>
                    <a:pt x="333375" y="209550"/>
                  </a:cubicBezTo>
                  <a:lnTo>
                    <a:pt x="164592" y="209550"/>
                  </a:lnTo>
                  <a:lnTo>
                    <a:pt x="71533" y="265367"/>
                  </a:lnTo>
                  <a:cubicBezTo>
                    <a:pt x="70062" y="266239"/>
                    <a:pt x="68385" y="266699"/>
                    <a:pt x="66675" y="266700"/>
                  </a:cubicBezTo>
                  <a:close/>
                  <a:moveTo>
                    <a:pt x="19050" y="190500"/>
                  </a:moveTo>
                  <a:lnTo>
                    <a:pt x="66675" y="190500"/>
                  </a:lnTo>
                  <a:cubicBezTo>
                    <a:pt x="71936" y="190500"/>
                    <a:pt x="76200" y="194764"/>
                    <a:pt x="76200" y="200025"/>
                  </a:cubicBezTo>
                  <a:lnTo>
                    <a:pt x="76200" y="240316"/>
                  </a:lnTo>
                  <a:lnTo>
                    <a:pt x="157067" y="191834"/>
                  </a:lnTo>
                  <a:cubicBezTo>
                    <a:pt x="158538" y="190961"/>
                    <a:pt x="160215" y="190501"/>
                    <a:pt x="161925" y="190500"/>
                  </a:cubicBezTo>
                  <a:lnTo>
                    <a:pt x="323850" y="190500"/>
                  </a:lnTo>
                  <a:lnTo>
                    <a:pt x="323850" y="19050"/>
                  </a:lnTo>
                  <a:lnTo>
                    <a:pt x="19050" y="19050"/>
                  </a:ln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6E3AB93D-CE5E-AF70-5724-E4BD2B821F39}"/>
              </a:ext>
            </a:extLst>
          </p:cNvPr>
          <p:cNvGrpSpPr/>
          <p:nvPr/>
        </p:nvGrpSpPr>
        <p:grpSpPr>
          <a:xfrm>
            <a:off x="4173143" y="1755906"/>
            <a:ext cx="462410" cy="405020"/>
            <a:chOff x="9146325" y="2868667"/>
            <a:chExt cx="342900" cy="266700"/>
          </a:xfrm>
        </p:grpSpPr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B8B9F227-032B-1D19-7DEC-A1AB5E405AEA}"/>
                </a:ext>
              </a:extLst>
            </p:cNvPr>
            <p:cNvSpPr/>
            <p:nvPr/>
          </p:nvSpPr>
          <p:spPr>
            <a:xfrm>
              <a:off x="9239573" y="2918541"/>
              <a:ext cx="156400" cy="111537"/>
            </a:xfrm>
            <a:custGeom>
              <a:avLst/>
              <a:gdLst>
                <a:gd name="connsiteX0" fmla="*/ 54388 w 156400"/>
                <a:gd name="connsiteY0" fmla="*/ 111538 h 111537"/>
                <a:gd name="connsiteX1" fmla="*/ 47625 w 156400"/>
                <a:gd name="connsiteY1" fmla="*/ 108775 h 111537"/>
                <a:gd name="connsiteX2" fmla="*/ 0 w 156400"/>
                <a:gd name="connsiteY2" fmla="*/ 61150 h 111537"/>
                <a:gd name="connsiteX3" fmla="*/ 13525 w 156400"/>
                <a:gd name="connsiteY3" fmla="*/ 47625 h 111537"/>
                <a:gd name="connsiteX4" fmla="*/ 54388 w 156400"/>
                <a:gd name="connsiteY4" fmla="*/ 88582 h 111537"/>
                <a:gd name="connsiteX5" fmla="*/ 142875 w 156400"/>
                <a:gd name="connsiteY5" fmla="*/ 0 h 111537"/>
                <a:gd name="connsiteX6" fmla="*/ 156400 w 156400"/>
                <a:gd name="connsiteY6" fmla="*/ 13525 h 111537"/>
                <a:gd name="connsiteX7" fmla="*/ 61150 w 156400"/>
                <a:gd name="connsiteY7" fmla="*/ 108775 h 111537"/>
                <a:gd name="connsiteX8" fmla="*/ 54388 w 156400"/>
                <a:gd name="connsiteY8" fmla="*/ 111538 h 11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400" h="111537">
                  <a:moveTo>
                    <a:pt x="54388" y="111538"/>
                  </a:moveTo>
                  <a:cubicBezTo>
                    <a:pt x="51856" y="111552"/>
                    <a:pt x="49422" y="110559"/>
                    <a:pt x="47625" y="108775"/>
                  </a:cubicBezTo>
                  <a:lnTo>
                    <a:pt x="0" y="61150"/>
                  </a:lnTo>
                  <a:lnTo>
                    <a:pt x="13525" y="47625"/>
                  </a:lnTo>
                  <a:lnTo>
                    <a:pt x="54388" y="88582"/>
                  </a:lnTo>
                  <a:lnTo>
                    <a:pt x="142875" y="0"/>
                  </a:lnTo>
                  <a:lnTo>
                    <a:pt x="156400" y="13525"/>
                  </a:lnTo>
                  <a:lnTo>
                    <a:pt x="61150" y="108775"/>
                  </a:lnTo>
                  <a:cubicBezTo>
                    <a:pt x="59353" y="110559"/>
                    <a:pt x="56919" y="111552"/>
                    <a:pt x="54388" y="111538"/>
                  </a:cubicBez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dirty="0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F7516F3D-8C3F-2F70-1570-888B2CF303C3}"/>
                </a:ext>
              </a:extLst>
            </p:cNvPr>
            <p:cNvSpPr/>
            <p:nvPr/>
          </p:nvSpPr>
          <p:spPr>
            <a:xfrm>
              <a:off x="9146325" y="2868667"/>
              <a:ext cx="342900" cy="266700"/>
            </a:xfrm>
            <a:custGeom>
              <a:avLst/>
              <a:gdLst>
                <a:gd name="connsiteX0" fmla="*/ 66675 w 342900"/>
                <a:gd name="connsiteY0" fmla="*/ 266700 h 266700"/>
                <a:gd name="connsiteX1" fmla="*/ 62008 w 342900"/>
                <a:gd name="connsiteY1" fmla="*/ 265462 h 266700"/>
                <a:gd name="connsiteX2" fmla="*/ 57150 w 342900"/>
                <a:gd name="connsiteY2" fmla="*/ 257175 h 266700"/>
                <a:gd name="connsiteX3" fmla="*/ 57150 w 342900"/>
                <a:gd name="connsiteY3" fmla="*/ 209550 h 266700"/>
                <a:gd name="connsiteX4" fmla="*/ 9525 w 342900"/>
                <a:gd name="connsiteY4" fmla="*/ 209550 h 266700"/>
                <a:gd name="connsiteX5" fmla="*/ 0 w 342900"/>
                <a:gd name="connsiteY5" fmla="*/ 200025 h 266700"/>
                <a:gd name="connsiteX6" fmla="*/ 0 w 342900"/>
                <a:gd name="connsiteY6" fmla="*/ 9525 h 266700"/>
                <a:gd name="connsiteX7" fmla="*/ 9525 w 342900"/>
                <a:gd name="connsiteY7" fmla="*/ 0 h 266700"/>
                <a:gd name="connsiteX8" fmla="*/ 333375 w 342900"/>
                <a:gd name="connsiteY8" fmla="*/ 0 h 266700"/>
                <a:gd name="connsiteX9" fmla="*/ 342900 w 342900"/>
                <a:gd name="connsiteY9" fmla="*/ 9525 h 266700"/>
                <a:gd name="connsiteX10" fmla="*/ 342900 w 342900"/>
                <a:gd name="connsiteY10" fmla="*/ 200025 h 266700"/>
                <a:gd name="connsiteX11" fmla="*/ 333375 w 342900"/>
                <a:gd name="connsiteY11" fmla="*/ 209550 h 266700"/>
                <a:gd name="connsiteX12" fmla="*/ 164592 w 342900"/>
                <a:gd name="connsiteY12" fmla="*/ 209550 h 266700"/>
                <a:gd name="connsiteX13" fmla="*/ 71533 w 342900"/>
                <a:gd name="connsiteY13" fmla="*/ 265367 h 266700"/>
                <a:gd name="connsiteX14" fmla="*/ 66675 w 342900"/>
                <a:gd name="connsiteY14" fmla="*/ 266700 h 266700"/>
                <a:gd name="connsiteX15" fmla="*/ 19050 w 342900"/>
                <a:gd name="connsiteY15" fmla="*/ 190500 h 266700"/>
                <a:gd name="connsiteX16" fmla="*/ 66675 w 342900"/>
                <a:gd name="connsiteY16" fmla="*/ 190500 h 266700"/>
                <a:gd name="connsiteX17" fmla="*/ 76200 w 342900"/>
                <a:gd name="connsiteY17" fmla="*/ 200025 h 266700"/>
                <a:gd name="connsiteX18" fmla="*/ 76200 w 342900"/>
                <a:gd name="connsiteY18" fmla="*/ 240316 h 266700"/>
                <a:gd name="connsiteX19" fmla="*/ 157067 w 342900"/>
                <a:gd name="connsiteY19" fmla="*/ 191834 h 266700"/>
                <a:gd name="connsiteX20" fmla="*/ 161925 w 342900"/>
                <a:gd name="connsiteY20" fmla="*/ 190500 h 266700"/>
                <a:gd name="connsiteX21" fmla="*/ 323850 w 342900"/>
                <a:gd name="connsiteY21" fmla="*/ 190500 h 266700"/>
                <a:gd name="connsiteX22" fmla="*/ 323850 w 342900"/>
                <a:gd name="connsiteY22" fmla="*/ 19050 h 266700"/>
                <a:gd name="connsiteX23" fmla="*/ 19050 w 342900"/>
                <a:gd name="connsiteY23" fmla="*/ 1905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900" h="266700">
                  <a:moveTo>
                    <a:pt x="66675" y="266700"/>
                  </a:moveTo>
                  <a:cubicBezTo>
                    <a:pt x="65039" y="266695"/>
                    <a:pt x="63432" y="266269"/>
                    <a:pt x="62008" y="265462"/>
                  </a:cubicBezTo>
                  <a:cubicBezTo>
                    <a:pt x="59012" y="263778"/>
                    <a:pt x="57156" y="260612"/>
                    <a:pt x="57150" y="257175"/>
                  </a:cubicBezTo>
                  <a:lnTo>
                    <a:pt x="57150" y="209550"/>
                  </a:lnTo>
                  <a:lnTo>
                    <a:pt x="9525" y="209550"/>
                  </a:lnTo>
                  <a:cubicBezTo>
                    <a:pt x="4264" y="209550"/>
                    <a:pt x="0" y="205286"/>
                    <a:pt x="0" y="200025"/>
                  </a:cubicBez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lnTo>
                    <a:pt x="333375" y="0"/>
                  </a:lnTo>
                  <a:cubicBezTo>
                    <a:pt x="338636" y="0"/>
                    <a:pt x="342900" y="4264"/>
                    <a:pt x="342900" y="9525"/>
                  </a:cubicBezTo>
                  <a:lnTo>
                    <a:pt x="342900" y="200025"/>
                  </a:lnTo>
                  <a:cubicBezTo>
                    <a:pt x="342900" y="205286"/>
                    <a:pt x="338636" y="209550"/>
                    <a:pt x="333375" y="209550"/>
                  </a:cubicBezTo>
                  <a:lnTo>
                    <a:pt x="164592" y="209550"/>
                  </a:lnTo>
                  <a:lnTo>
                    <a:pt x="71533" y="265367"/>
                  </a:lnTo>
                  <a:cubicBezTo>
                    <a:pt x="70062" y="266239"/>
                    <a:pt x="68385" y="266699"/>
                    <a:pt x="66675" y="266700"/>
                  </a:cubicBezTo>
                  <a:close/>
                  <a:moveTo>
                    <a:pt x="19050" y="190500"/>
                  </a:moveTo>
                  <a:lnTo>
                    <a:pt x="66675" y="190500"/>
                  </a:lnTo>
                  <a:cubicBezTo>
                    <a:pt x="71936" y="190500"/>
                    <a:pt x="76200" y="194764"/>
                    <a:pt x="76200" y="200025"/>
                  </a:cubicBezTo>
                  <a:lnTo>
                    <a:pt x="76200" y="240316"/>
                  </a:lnTo>
                  <a:lnTo>
                    <a:pt x="157067" y="191834"/>
                  </a:lnTo>
                  <a:cubicBezTo>
                    <a:pt x="158538" y="190961"/>
                    <a:pt x="160215" y="190501"/>
                    <a:pt x="161925" y="190500"/>
                  </a:cubicBezTo>
                  <a:lnTo>
                    <a:pt x="323850" y="190500"/>
                  </a:lnTo>
                  <a:lnTo>
                    <a:pt x="323850" y="19050"/>
                  </a:lnTo>
                  <a:lnTo>
                    <a:pt x="19050" y="19050"/>
                  </a:lnTo>
                  <a:close/>
                </a:path>
              </a:pathLst>
            </a:custGeom>
            <a:solidFill>
              <a:srgbClr val="2016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99931FE-0C4C-ABA6-A2A1-86CAB3DB2B03}"/>
              </a:ext>
            </a:extLst>
          </p:cNvPr>
          <p:cNvSpPr/>
          <p:nvPr/>
        </p:nvSpPr>
        <p:spPr>
          <a:xfrm>
            <a:off x="1322326" y="1559986"/>
            <a:ext cx="1620000" cy="576000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Producteur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7EDCD3-02CF-A38B-A064-8C4DDCE06284}"/>
              </a:ext>
            </a:extLst>
          </p:cNvPr>
          <p:cNvSpPr/>
          <p:nvPr/>
        </p:nvSpPr>
        <p:spPr>
          <a:xfrm>
            <a:off x="9482230" y="5299715"/>
            <a:ext cx="1726875" cy="576000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Consommateur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7001A-564E-130F-CB96-FFB2B26B4D6C}"/>
              </a:ext>
            </a:extLst>
          </p:cNvPr>
          <p:cNvSpPr/>
          <p:nvPr/>
        </p:nvSpPr>
        <p:spPr>
          <a:xfrm>
            <a:off x="1294458" y="5298014"/>
            <a:ext cx="3372099" cy="705953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Gestion d’évènements</a:t>
            </a:r>
            <a:br>
              <a:rPr lang="fr-FR" sz="1600" dirty="0">
                <a:solidFill>
                  <a:schemeClr val="tx1"/>
                </a:solidFill>
              </a:rPr>
            </a:br>
            <a:r>
              <a:rPr lang="fr-FR" sz="1600" b="1" dirty="0" err="1">
                <a:solidFill>
                  <a:schemeClr val="tx1"/>
                </a:solidFill>
              </a:rPr>
              <a:t>Override</a:t>
            </a:r>
            <a:r>
              <a:rPr lang="fr-FR" sz="1600" b="1" dirty="0">
                <a:solidFill>
                  <a:schemeClr val="tx1"/>
                </a:solidFill>
              </a:rPr>
              <a:t> Actor </a:t>
            </a:r>
            <a:r>
              <a:rPr lang="fr-FR" sz="1600" b="1" dirty="0" err="1">
                <a:solidFill>
                  <a:schemeClr val="tx1"/>
                </a:solidFill>
              </a:rPr>
              <a:t>Core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41DF58-D4AE-028B-06FA-FEFBCC763183}"/>
              </a:ext>
            </a:extLst>
          </p:cNvPr>
          <p:cNvSpPr/>
          <p:nvPr/>
        </p:nvSpPr>
        <p:spPr>
          <a:xfrm>
            <a:off x="7487283" y="1084906"/>
            <a:ext cx="3914775" cy="621011"/>
          </a:xfrm>
          <a:prstGeom prst="rect">
            <a:avLst/>
          </a:prstGeom>
          <a:solidFill>
            <a:srgbClr val="B4C7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Gestion des messages</a:t>
            </a:r>
            <a:br>
              <a:rPr lang="fr-FR" sz="1600" dirty="0">
                <a:solidFill>
                  <a:schemeClr val="tx1"/>
                </a:solidFill>
              </a:rPr>
            </a:br>
            <a:r>
              <a:rPr lang="fr-FR" sz="1600" b="1" dirty="0">
                <a:solidFill>
                  <a:schemeClr val="tx1"/>
                </a:solidFill>
              </a:rPr>
              <a:t>Method</a:t>
            </a:r>
          </a:p>
        </p:txBody>
      </p: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321DB30B-AC48-081B-33DD-E673215D2172}"/>
              </a:ext>
            </a:extLst>
          </p:cNvPr>
          <p:cNvGrpSpPr/>
          <p:nvPr/>
        </p:nvGrpSpPr>
        <p:grpSpPr>
          <a:xfrm>
            <a:off x="7557904" y="2206648"/>
            <a:ext cx="4439035" cy="2621353"/>
            <a:chOff x="7144868" y="2082272"/>
            <a:chExt cx="4439035" cy="2621353"/>
          </a:xfrm>
        </p:grpSpPr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759A4C56-3648-D066-9904-F4D4A879A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4868" y="2082272"/>
              <a:ext cx="3914775" cy="2219325"/>
            </a:xfrm>
            <a:prstGeom prst="rect">
              <a:avLst/>
            </a:prstGeom>
          </p:spPr>
        </p:pic>
        <p:pic>
          <p:nvPicPr>
            <p:cNvPr id="61" name="Image 60">
              <a:extLst>
                <a:ext uri="{FF2B5EF4-FFF2-40B4-BE49-F238E27FC236}">
                  <a16:creationId xmlns:a16="http://schemas.microsoft.com/office/drawing/2014/main" id="{221C1A58-2D39-1FB8-6D5B-CD7690636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06998" y="2279105"/>
              <a:ext cx="3914775" cy="2219325"/>
            </a:xfrm>
            <a:prstGeom prst="rect">
              <a:avLst/>
            </a:prstGeom>
          </p:spPr>
        </p:pic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B2B0C233-DB67-5E00-761C-DA3716831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9128" y="2484300"/>
              <a:ext cx="3914775" cy="2219325"/>
            </a:xfrm>
            <a:prstGeom prst="rect">
              <a:avLst/>
            </a:prstGeom>
          </p:spPr>
        </p:pic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6B66C973-DCFB-263E-5A3E-ED1B318D8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79" y="2626828"/>
            <a:ext cx="4215242" cy="2338090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389A05C1-8A4A-0E7F-C3EB-2270B91F0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321" y="695982"/>
            <a:ext cx="833718" cy="83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0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14427 1.85185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1.85185E-6 L 0.14427 0.5310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55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44444E-6 L 0.14427 4.44444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0.53102 L 0.2733 0.5310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5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4.44444E-6 L 0.14427 0.5310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55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33333E-6 L 0.14427 3.33333E-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0.53101 L 0.27331 0.5310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5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3.33333E-6 L 0.14427 0.5310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00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27 0.53102 L 0.27331 0.53102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12763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CFDA2DD-BCEF-6E6C-D858-716E9324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32" y="733637"/>
            <a:ext cx="5829300" cy="457200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F5852EA-8639-A881-FDBD-DD060613E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432" y="511139"/>
            <a:ext cx="51435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4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58A52A-A591-43EE-A87F-FF5B31CEFEA6}"/>
              </a:ext>
            </a:extLst>
          </p:cNvPr>
          <p:cNvSpPr/>
          <p:nvPr/>
        </p:nvSpPr>
        <p:spPr>
          <a:xfrm>
            <a:off x="2811710" y="485942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GRAPHICAL DEEP LEARNING LANGUAGE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79427C-6B46-B172-DD00-C05EEF29D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683" y="2746125"/>
            <a:ext cx="3246058" cy="20786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C9D8E6-1EA9-F9A3-0231-0A0F7B421A09}"/>
              </a:ext>
            </a:extLst>
          </p:cNvPr>
          <p:cNvSpPr/>
          <p:nvPr/>
        </p:nvSpPr>
        <p:spPr>
          <a:xfrm>
            <a:off x="-439024" y="311131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MERCI POUR VOTRE ATTENTION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D3A9DA-022C-BB51-717B-771F899B8B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85"/>
          <a:stretch/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6ABB82-597B-80B8-BAC9-0DF6A55ABB8C}"/>
              </a:ext>
            </a:extLst>
          </p:cNvPr>
          <p:cNvSpPr/>
          <p:nvPr/>
        </p:nvSpPr>
        <p:spPr>
          <a:xfrm>
            <a:off x="8192199" y="4127381"/>
            <a:ext cx="3498209" cy="117804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44D5E2-CF4B-49E8-6B6F-98ADE6EE4056}"/>
              </a:ext>
            </a:extLst>
          </p:cNvPr>
          <p:cNvSpPr txBox="1"/>
          <p:nvPr/>
        </p:nvSpPr>
        <p:spPr>
          <a:xfrm>
            <a:off x="8296712" y="4383508"/>
            <a:ext cx="3185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: Youssef Menjour</a:t>
            </a:r>
            <a:br>
              <a:rPr lang="fr-FR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y.menjour@technologies-france.com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990C9-823F-6FE4-8927-74FA277BCF84}"/>
              </a:ext>
            </a:extLst>
          </p:cNvPr>
          <p:cNvSpPr/>
          <p:nvPr/>
        </p:nvSpPr>
        <p:spPr>
          <a:xfrm>
            <a:off x="8192197" y="5331546"/>
            <a:ext cx="3498209" cy="152645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F6D51D-6649-9730-2B18-763E1B70A8E3}"/>
              </a:ext>
            </a:extLst>
          </p:cNvPr>
          <p:cNvSpPr txBox="1"/>
          <p:nvPr/>
        </p:nvSpPr>
        <p:spPr>
          <a:xfrm>
            <a:off x="8400692" y="5756219"/>
            <a:ext cx="30812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us Graiphic &amp; HAIBAL :</a:t>
            </a: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www.technologies-france.com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+ </a:t>
            </a:r>
            <a:r>
              <a:rPr lang="fr-FR" sz="1200" dirty="0" err="1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2628E-BA1C-77B1-1F08-01C36E1F9A1B}"/>
              </a:ext>
            </a:extLst>
          </p:cNvPr>
          <p:cNvSpPr/>
          <p:nvPr/>
        </p:nvSpPr>
        <p:spPr>
          <a:xfrm>
            <a:off x="8192195" y="1354347"/>
            <a:ext cx="3498209" cy="274305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47C42-BFD8-072C-AAAE-B8B6B3B2C5B3}"/>
              </a:ext>
            </a:extLst>
          </p:cNvPr>
          <p:cNvSpPr/>
          <p:nvPr/>
        </p:nvSpPr>
        <p:spPr>
          <a:xfrm>
            <a:off x="8192195" y="-2186"/>
            <a:ext cx="3498209" cy="13265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14EFDA-EB26-C8DB-AB52-1A995EDE7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2" y="153929"/>
            <a:ext cx="2636927" cy="8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6C43977-35D7-979E-A836-9003D882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2192B13-00E5-0D0C-4A18-7BC9F18D7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266" y="1806087"/>
            <a:ext cx="2579664" cy="310434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651DF6F-CFF7-E5AE-5E35-48058BA215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026" y="324272"/>
            <a:ext cx="877014" cy="88587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C6D9E0F-CF27-FB3C-A3C3-D712C0D4C57D}"/>
              </a:ext>
            </a:extLst>
          </p:cNvPr>
          <p:cNvSpPr txBox="1"/>
          <p:nvPr/>
        </p:nvSpPr>
        <p:spPr>
          <a:xfrm>
            <a:off x="4061661" y="484086"/>
            <a:ext cx="4488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 Framework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0B73C00-C179-7178-3EC8-E4E24D39B2B4}"/>
              </a:ext>
            </a:extLst>
          </p:cNvPr>
          <p:cNvSpPr txBox="1"/>
          <p:nvPr/>
        </p:nvSpPr>
        <p:spPr>
          <a:xfrm>
            <a:off x="4695441" y="5257505"/>
            <a:ext cx="32213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  Partie 2</a:t>
            </a:r>
            <a:endParaRPr lang="fr-FR" dirty="0"/>
          </a:p>
        </p:txBody>
      </p:sp>
      <p:pic>
        <p:nvPicPr>
          <p:cNvPr id="30" name="Image 29" descr="Une image contenant texte&#10;&#10;Description générée automatiquement">
            <a:extLst>
              <a:ext uri="{FF2B5EF4-FFF2-40B4-BE49-F238E27FC236}">
                <a16:creationId xmlns:a16="http://schemas.microsoft.com/office/drawing/2014/main" id="{52F91B36-9EE6-7B62-E5DD-22C9CCECF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57" y="5149334"/>
            <a:ext cx="1189318" cy="11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5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3F442F-4056-9D4B-2CB1-BCA3B5090803}"/>
              </a:ext>
            </a:extLst>
          </p:cNvPr>
          <p:cNvCxnSpPr>
            <a:cxnSpLocks/>
          </p:cNvCxnSpPr>
          <p:nvPr/>
        </p:nvCxnSpPr>
        <p:spPr>
          <a:xfrm>
            <a:off x="0" y="1189846"/>
            <a:ext cx="1276350" cy="0"/>
          </a:xfrm>
          <a:prstGeom prst="line">
            <a:avLst/>
          </a:prstGeom>
          <a:ln w="19050">
            <a:solidFill>
              <a:srgbClr val="131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92FB1522-3783-21DC-9AD6-C159AB91A196}"/>
              </a:ext>
            </a:extLst>
          </p:cNvPr>
          <p:cNvSpPr txBox="1"/>
          <p:nvPr/>
        </p:nvSpPr>
        <p:spPr>
          <a:xfrm>
            <a:off x="82408" y="733637"/>
            <a:ext cx="1108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3162A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Actor</a:t>
            </a:r>
            <a:endParaRPr lang="fr-FR" sz="2400" b="1" dirty="0">
              <a:solidFill>
                <a:srgbClr val="13162A"/>
              </a:solidFill>
              <a:latin typeface="Avenir Next LT Pro Demi" panose="020B07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CFDA2DD-BCEF-6E6C-D858-716E9324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32" y="733637"/>
            <a:ext cx="5829300" cy="457200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F5852EA-8639-A881-FDBD-DD060613E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432" y="511139"/>
            <a:ext cx="51435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3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71996</TotalTime>
  <Words>475</Words>
  <Application>Microsoft Office PowerPoint</Application>
  <PresentationFormat>Grand écran</PresentationFormat>
  <Paragraphs>89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Arial</vt:lpstr>
      <vt:lpstr>Avenir Next LT Pro</vt:lpstr>
      <vt:lpstr>Avenir Next LT Pro Demi</vt:lpstr>
      <vt:lpstr>Calibri</vt:lpstr>
      <vt:lpstr>Calibri Light</vt:lpstr>
      <vt:lpstr>Open Sans</vt:lpstr>
      <vt:lpstr>Söhne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Aloïs Lien</dc:creator>
  <cp:lastModifiedBy>Youssef Menjour</cp:lastModifiedBy>
  <cp:revision>675</cp:revision>
  <cp:lastPrinted>2019-09-05T08:42:36Z</cp:lastPrinted>
  <dcterms:created xsi:type="dcterms:W3CDTF">2019-05-22T16:03:13Z</dcterms:created>
  <dcterms:modified xsi:type="dcterms:W3CDTF">2023-11-18T12:38:05Z</dcterms:modified>
</cp:coreProperties>
</file>